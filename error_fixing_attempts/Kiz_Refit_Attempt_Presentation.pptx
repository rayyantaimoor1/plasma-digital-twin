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side-presentation for the viva, covering one specific engineering decision: we tried to fix the ionization rate coefficient, it made things worse, and we reverted it on purpose. The headline is that the engine is unchanged, but we gained a documented physics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honest position. Six of nine pass. The three that fail all trace to one cause. Crucially the tolerances were fixed in advance and never loosened - that is what makes the number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 that three failures is not three problems. Two are direct comparisons of the coefficient; the third is density inheriting the same bias through the energy-loss term. Also flag that the references themselves disagree by 40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we touched a working engine at all: the coefficient had no citable origin, which is a weakness under examination regardless of accuracy. It was also the one cause behind all three failures, and the experiment was free because it lived in an isolated worktree. Note the intent was provenance, not a better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defuses the obvious follow-up question. Even with a biased rate coefficient, the temperature - the quantity the whole model is built on - agrees with both references, because the root-find on the exponential partially cancels the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sourcing discipline. The project had previously been bitten by an unverified derivation, so every number here was read out of the actual document. And the three sources already used for grading were deliberately excluded as fit targets to avoid training and testing on the same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examiner suspects we fiddled with numbers until they looked good, this slide is the answer. The window was fixed on physical grounds first, we fit once, and we never touched the constants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fit was not the problem. It reproduces the source to a sixth of a percent, and the exponential threshold it recovered on its own lands within 0.2 percent of argon’s real ionization potential - strong evidence the fitting procedure was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in the story everything looks positive. The new fit is faithful, the old one demonstrably is not, and the worst disagreement is right in the operating range. The trouble only shows up when we look at what depends on this coefficient.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here: a drop from six to four is bad but not by itself decisive, because this benchmark is deliberately semi-quantitative and its three anchors disagree with each other. The decisive evidence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crux of the whole presentation. We did not reject the refit because a score went down. We rejected it because it broke an independent published check that was passing before - which means the engine became less physically faithful, not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is structural, not numerical. E_c only ever sees the ratio of the two coefficients. The two original fits were both off in the same direction, so the ratio was roughly right by accident. Fixing one of them destroyed that accidental cancellation.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 faithful refit of one coefficient, a collapsed ratio, an energy loss outside the published band, a halved energy per pair, and finally density errors that double. One local improvement, five downstream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slide an examiner will care about. Exactly one dimension improved - the thing we set out to fix. Four degraded. The key line is the asymmetry: provenance is about documentation, agreement with published physics is about the model actually being right. We would not trade the second for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is a null result and we report it as such. The two fits have identical operation counts, so no difference was expected and none was measured. Worth mentioning the caching gotcha: it initially made the temperature look unchanged, which would have been a wrong number in the report had we not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independent grounds, and the last line is the one to say out loud: we never tuned the constants after seeing the benchmark. That is the difference between validation and self-deception.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failed experiment as a net gain. We now have a constraint written where someone would trip over it, a documented procedure, and a reproducible analysis. That is worth more than two passing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one-sentence answer. It shows we understand the model’s internal structure rather than just its outputs, and that we chose defensibility over a nicer-looking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1417320"/>
            <a:ext cx="10515600" cy="365760"/>
          </a:xfrm>
          <a:prstGeom prst="rect">
            <a:avLst/>
          </a:prstGeom>
          <a:noFill/>
          <a:ln/>
        </p:spPr>
        <p:txBody>
          <a:bodyPr wrap="square" lIns="0" tIns="0" rIns="0" bIns="0" rtlCol="0" anchor="ctr"/>
          <a:lstStyle/>
          <a:p>
            <a:pPr indent="0" marL="0">
              <a:buNone/>
            </a:pPr>
            <a:r>
              <a:rPr lang="en-US" sz="1300" b="1" spc="250" kern="0" dirty="0">
                <a:solidFill>
                  <a:srgbClr val="7FB3CC"/>
                </a:solidFill>
                <a:latin typeface="Calibri" pitchFamily="34" charset="0"/>
                <a:ea typeface="Calibri" pitchFamily="34" charset="-122"/>
                <a:cs typeface="Calibri" pitchFamily="34" charset="-120"/>
              </a:rPr>
              <a:t>ERROR-FIXING ATTEMPT  ·  TECHNICAL POST-MORTEM</a:t>
            </a:r>
            <a:endParaRPr lang="en-US" sz="1300" dirty="0"/>
          </a:p>
        </p:txBody>
      </p:sp>
      <p:sp>
        <p:nvSpPr>
          <p:cNvPr id="3" name="Text 1"/>
          <p:cNvSpPr/>
          <p:nvPr/>
        </p:nvSpPr>
        <p:spPr>
          <a:xfrm>
            <a:off x="822960" y="1874520"/>
            <a:ext cx="10515600" cy="173736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Re-deriving the Argon Ionization</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Rate Coefficient  Kᵢₓ</a:t>
            </a:r>
            <a:endParaRPr lang="en-US" sz="4000" dirty="0"/>
          </a:p>
        </p:txBody>
      </p:sp>
      <p:sp>
        <p:nvSpPr>
          <p:cNvPr id="4" name="Text 2"/>
          <p:cNvSpPr/>
          <p:nvPr/>
        </p:nvSpPr>
        <p:spPr>
          <a:xfrm>
            <a:off x="822960" y="3703320"/>
            <a:ext cx="10515600" cy="41148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Why we attempted the fix — and why we deliberately reverted it</a:t>
            </a:r>
            <a:endParaRPr lang="en-US" sz="1700" dirty="0"/>
          </a:p>
        </p:txBody>
      </p:sp>
      <p:sp>
        <p:nvSpPr>
          <p:cNvPr id="5" name="Shape 3"/>
          <p:cNvSpPr/>
          <p:nvPr/>
        </p:nvSpPr>
        <p:spPr>
          <a:xfrm>
            <a:off x="822960" y="4434840"/>
            <a:ext cx="2286000" cy="1234440"/>
          </a:xfrm>
          <a:prstGeom prst="roundRect">
            <a:avLst>
              <a:gd name="adj" fmla="val 5926"/>
            </a:avLst>
          </a:prstGeom>
          <a:solidFill>
            <a:srgbClr val="2E3A72"/>
          </a:solidFill>
          <a:ln/>
          <a:effectLst>
            <a:outerShdw sx="100000" sy="100000" kx="0" ky="0" algn="bl" rotWithShape="0" blurRad="101600" dist="25400" dir="5400000">
              <a:srgbClr val="9AA8B2">
                <a:alpha val="28000"/>
              </a:srgbClr>
            </a:outerShdw>
          </a:effectLst>
        </p:spPr>
      </p:sp>
      <p:sp>
        <p:nvSpPr>
          <p:cNvPr id="6" name="Text 4"/>
          <p:cNvSpPr/>
          <p:nvPr/>
        </p:nvSpPr>
        <p:spPr>
          <a:xfrm>
            <a:off x="914400" y="4581144"/>
            <a:ext cx="2103120" cy="641909"/>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 → 4</a:t>
            </a:r>
            <a:endParaRPr lang="en-US" sz="3000" dirty="0"/>
          </a:p>
        </p:txBody>
      </p:sp>
      <p:sp>
        <p:nvSpPr>
          <p:cNvPr id="7" name="Text 5"/>
          <p:cNvSpPr/>
          <p:nvPr/>
        </p:nvSpPr>
        <p:spPr>
          <a:xfrm>
            <a:off x="950976" y="5200193"/>
            <a:ext cx="2029968" cy="395021"/>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of 9 checks passing</a:t>
            </a:r>
            <a:endParaRPr lang="en-US" sz="1150" dirty="0"/>
          </a:p>
        </p:txBody>
      </p:sp>
      <p:sp>
        <p:nvSpPr>
          <p:cNvPr id="8" name="Shape 6"/>
          <p:cNvSpPr/>
          <p:nvPr/>
        </p:nvSpPr>
        <p:spPr>
          <a:xfrm>
            <a:off x="3291840" y="4434840"/>
            <a:ext cx="2286000" cy="1234440"/>
          </a:xfrm>
          <a:prstGeom prst="roundRect">
            <a:avLst>
              <a:gd name="adj" fmla="val 5926"/>
            </a:avLst>
          </a:prstGeom>
          <a:solidFill>
            <a:srgbClr val="2E3A72"/>
          </a:solidFill>
          <a:ln/>
          <a:effectLst>
            <a:outerShdw sx="100000" sy="100000" kx="0" ky="0" algn="bl" rotWithShape="0" blurRad="101600" dist="25400" dir="5400000">
              <a:srgbClr val="9AA8B2">
                <a:alpha val="28000"/>
              </a:srgbClr>
            </a:outerShdw>
          </a:effectLst>
        </p:spPr>
      </p:sp>
      <p:sp>
        <p:nvSpPr>
          <p:cNvPr id="9" name="Text 7"/>
          <p:cNvSpPr/>
          <p:nvPr/>
        </p:nvSpPr>
        <p:spPr>
          <a:xfrm>
            <a:off x="3383280" y="4581144"/>
            <a:ext cx="2103120" cy="641909"/>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0.15%</a:t>
            </a:r>
            <a:endParaRPr lang="en-US" sz="3000" dirty="0"/>
          </a:p>
        </p:txBody>
      </p:sp>
      <p:sp>
        <p:nvSpPr>
          <p:cNvPr id="10" name="Text 8"/>
          <p:cNvSpPr/>
          <p:nvPr/>
        </p:nvSpPr>
        <p:spPr>
          <a:xfrm>
            <a:off x="3419856" y="5200193"/>
            <a:ext cx="2029968" cy="395021"/>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fit error vs source</a:t>
            </a:r>
            <a:endParaRPr lang="en-US" sz="1150" dirty="0"/>
          </a:p>
        </p:txBody>
      </p:sp>
      <p:sp>
        <p:nvSpPr>
          <p:cNvPr id="11" name="Shape 9"/>
          <p:cNvSpPr/>
          <p:nvPr/>
        </p:nvSpPr>
        <p:spPr>
          <a:xfrm>
            <a:off x="5760720" y="4434840"/>
            <a:ext cx="2286000" cy="1234440"/>
          </a:xfrm>
          <a:prstGeom prst="roundRect">
            <a:avLst>
              <a:gd name="adj" fmla="val 5926"/>
            </a:avLst>
          </a:prstGeom>
          <a:solidFill>
            <a:srgbClr val="5A2E3A"/>
          </a:solidFill>
          <a:ln/>
          <a:effectLst>
            <a:outerShdw sx="100000" sy="100000" kx="0" ky="0" algn="bl" rotWithShape="0" blurRad="101600" dist="25400" dir="5400000">
              <a:srgbClr val="9AA8B2">
                <a:alpha val="28000"/>
              </a:srgbClr>
            </a:outerShdw>
          </a:effectLst>
        </p:spPr>
      </p:sp>
      <p:sp>
        <p:nvSpPr>
          <p:cNvPr id="12" name="Text 10"/>
          <p:cNvSpPr/>
          <p:nvPr/>
        </p:nvSpPr>
        <p:spPr>
          <a:xfrm>
            <a:off x="5852160" y="4581144"/>
            <a:ext cx="2103120" cy="641909"/>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REVERTED</a:t>
            </a:r>
            <a:endParaRPr lang="en-US" sz="2000" dirty="0"/>
          </a:p>
        </p:txBody>
      </p:sp>
      <p:sp>
        <p:nvSpPr>
          <p:cNvPr id="13" name="Text 11"/>
          <p:cNvSpPr/>
          <p:nvPr/>
        </p:nvSpPr>
        <p:spPr>
          <a:xfrm>
            <a:off x="5888736" y="5200193"/>
            <a:ext cx="2029968" cy="395021"/>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engine unchanged</a:t>
            </a:r>
            <a:endParaRPr lang="en-US" sz="1150" dirty="0"/>
          </a:p>
        </p:txBody>
      </p:sp>
      <p:sp>
        <p:nvSpPr>
          <p:cNvPr id="14" name="Text 12"/>
          <p:cNvSpPr/>
          <p:nvPr/>
        </p:nvSpPr>
        <p:spPr>
          <a:xfrm>
            <a:off x="8366760" y="4526280"/>
            <a:ext cx="2971800" cy="1097280"/>
          </a:xfrm>
          <a:prstGeom prst="rect">
            <a:avLst/>
          </a:prstGeom>
          <a:noFill/>
          <a:ln/>
        </p:spPr>
        <p:txBody>
          <a:bodyPr wrap="square" lIns="0" tIns="0" rIns="0" bIns="0" rtlCol="0" anchor="t"/>
          <a:lstStyle/>
          <a:p>
            <a:pPr indent="0" marL="0">
              <a:buNone/>
            </a:pPr>
            <a:r>
              <a:rPr lang="en-US" sz="1050" dirty="0">
                <a:solidFill>
                  <a:srgbClr val="8FA0C0"/>
                </a:solidFill>
                <a:latin typeface="Calibri" pitchFamily="34" charset="0"/>
                <a:ea typeface="Calibri" pitchFamily="34" charset="-122"/>
                <a:cs typeface="Calibri" pitchFamily="34" charset="-120"/>
              </a:rPr>
              <a:t>AI-Assisted Plasma Process Experimentation &amp; Digital Twin Analytics Platform</a:t>
            </a:r>
            <a:endParaRPr lang="en-US" sz="1050" dirty="0"/>
          </a:p>
          <a:p>
            <a:pPr indent="0" marL="0">
              <a:buNone/>
            </a:pPr>
            <a:r>
              <a:rPr lang="en-US" sz="1050" dirty="0">
                <a:solidFill>
                  <a:srgbClr val="8FA0C0"/>
                </a:solidFill>
                <a:latin typeface="Calibri" pitchFamily="34" charset="0"/>
                <a:ea typeface="Calibri" pitchFamily="34" charset="-122"/>
                <a:cs typeface="Calibri" pitchFamily="34" charset="-120"/>
              </a:rPr>
              <a:t>Sub-Module 1.2 (Physics Engine)  ·  Sub-Module 1.6 (Physics Validation)  ·  COMSATS University Islamabad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The starting point: 6 of 9 validation checks pass</a:t>
            </a:r>
            <a:endParaRPr lang="en-US" sz="3000" dirty="0"/>
          </a:p>
        </p:txBody>
      </p:sp>
      <p:sp>
        <p:nvSpPr>
          <p:cNvPr id="3" name="Text 1"/>
          <p:cNvSpPr/>
          <p:nvPr/>
        </p:nvSpPr>
        <p:spPr>
          <a:xfrm>
            <a:off x="566928" y="1133856"/>
            <a:ext cx="11064240" cy="310896"/>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Sub-Module 1.6 benchmarks the 0D global model against independently published argon reference values.</a:t>
            </a:r>
            <a:endParaRPr lang="en-US" sz="1350" dirty="0"/>
          </a:p>
        </p:txBody>
      </p:sp>
      <p:sp>
        <p:nvSpPr>
          <p:cNvPr id="4" name="Shape 2"/>
          <p:cNvSpPr/>
          <p:nvPr/>
        </p:nvSpPr>
        <p:spPr>
          <a:xfrm>
            <a:off x="822960" y="1691640"/>
            <a:ext cx="3200400" cy="1417320"/>
          </a:xfrm>
          <a:prstGeom prst="roundRect">
            <a:avLst>
              <a:gd name="adj" fmla="val 5161"/>
            </a:avLst>
          </a:prstGeom>
          <a:solidFill>
            <a:srgbClr val="F2F7FA"/>
          </a:solidFill>
          <a:ln/>
          <a:effectLst>
            <a:outerShdw sx="100000" sy="100000" kx="0" ky="0" algn="bl" rotWithShape="0" blurRad="101600" dist="25400" dir="5400000">
              <a:srgbClr val="9AA8B2">
                <a:alpha val="28000"/>
              </a:srgbClr>
            </a:outerShdw>
          </a:effectLst>
        </p:spPr>
      </p:sp>
      <p:sp>
        <p:nvSpPr>
          <p:cNvPr id="5" name="Text 3"/>
          <p:cNvSpPr/>
          <p:nvPr/>
        </p:nvSpPr>
        <p:spPr>
          <a:xfrm>
            <a:off x="914400" y="1837944"/>
            <a:ext cx="3017520" cy="737006"/>
          </a:xfrm>
          <a:prstGeom prst="rect">
            <a:avLst/>
          </a:prstGeom>
          <a:noFill/>
          <a:ln/>
        </p:spPr>
        <p:txBody>
          <a:bodyPr wrap="square" lIns="0" tIns="0" rIns="0" bIns="0" rtlCol="0" anchor="ctr"/>
          <a:lstStyle/>
          <a:p>
            <a:pPr algn="ctr" indent="0" marL="0">
              <a:buNone/>
            </a:pPr>
            <a:r>
              <a:rPr lang="en-US" sz="4000" b="1" dirty="0">
                <a:solidFill>
                  <a:srgbClr val="065A82"/>
                </a:solidFill>
                <a:latin typeface="Cambria" pitchFamily="34" charset="0"/>
                <a:ea typeface="Cambria" pitchFamily="34" charset="-122"/>
                <a:cs typeface="Cambria" pitchFamily="34" charset="-120"/>
              </a:rPr>
              <a:t>6 / 9</a:t>
            </a:r>
            <a:endParaRPr lang="en-US" sz="4000" dirty="0"/>
          </a:p>
        </p:txBody>
      </p:sp>
      <p:sp>
        <p:nvSpPr>
          <p:cNvPr id="6" name="Text 4"/>
          <p:cNvSpPr/>
          <p:nvPr/>
        </p:nvSpPr>
        <p:spPr>
          <a:xfrm>
            <a:off x="950976" y="2570378"/>
            <a:ext cx="2944368" cy="453542"/>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checks inside their pre-stated tolerance band</a:t>
            </a:r>
            <a:endParaRPr lang="en-US" sz="1150" dirty="0"/>
          </a:p>
        </p:txBody>
      </p:sp>
      <p:sp>
        <p:nvSpPr>
          <p:cNvPr id="7" name="Shape 5"/>
          <p:cNvSpPr/>
          <p:nvPr/>
        </p:nvSpPr>
        <p:spPr>
          <a:xfrm>
            <a:off x="4297680" y="1691640"/>
            <a:ext cx="3200400" cy="1417320"/>
          </a:xfrm>
          <a:prstGeom prst="roundRect">
            <a:avLst>
              <a:gd name="adj" fmla="val 5161"/>
            </a:avLst>
          </a:prstGeom>
          <a:solidFill>
            <a:srgbClr val="FBF1F1"/>
          </a:solidFill>
          <a:ln/>
          <a:effectLst>
            <a:outerShdw sx="100000" sy="100000" kx="0" ky="0" algn="bl" rotWithShape="0" blurRad="101600" dist="25400" dir="5400000">
              <a:srgbClr val="9AA8B2">
                <a:alpha val="28000"/>
              </a:srgbClr>
            </a:outerShdw>
          </a:effectLst>
        </p:spPr>
      </p:sp>
      <p:sp>
        <p:nvSpPr>
          <p:cNvPr id="8" name="Text 6"/>
          <p:cNvSpPr/>
          <p:nvPr/>
        </p:nvSpPr>
        <p:spPr>
          <a:xfrm>
            <a:off x="4389120" y="1837944"/>
            <a:ext cx="3017520" cy="737006"/>
          </a:xfrm>
          <a:prstGeom prst="rect">
            <a:avLst/>
          </a:prstGeom>
          <a:noFill/>
          <a:ln/>
        </p:spPr>
        <p:txBody>
          <a:bodyPr wrap="square" lIns="0" tIns="0" rIns="0" bIns="0" rtlCol="0" anchor="ctr"/>
          <a:lstStyle/>
          <a:p>
            <a:pPr algn="ctr" indent="0" marL="0">
              <a:buNone/>
            </a:pPr>
            <a:r>
              <a:rPr lang="en-US" sz="4000" b="1" dirty="0">
                <a:solidFill>
                  <a:srgbClr val="B03030"/>
                </a:solidFill>
                <a:latin typeface="Cambria" pitchFamily="34" charset="0"/>
                <a:ea typeface="Cambria" pitchFamily="34" charset="-122"/>
                <a:cs typeface="Cambria" pitchFamily="34" charset="-120"/>
              </a:rPr>
              <a:t>3</a:t>
            </a:r>
            <a:endParaRPr lang="en-US" sz="4000" dirty="0"/>
          </a:p>
        </p:txBody>
      </p:sp>
      <p:sp>
        <p:nvSpPr>
          <p:cNvPr id="9" name="Text 7"/>
          <p:cNvSpPr/>
          <p:nvPr/>
        </p:nvSpPr>
        <p:spPr>
          <a:xfrm>
            <a:off x="4425696" y="2570378"/>
            <a:ext cx="2944368" cy="453542"/>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failing checks</a:t>
            </a:r>
            <a:endParaRPr lang="en-US" sz="1150" dirty="0"/>
          </a:p>
        </p:txBody>
      </p:sp>
      <p:sp>
        <p:nvSpPr>
          <p:cNvPr id="10" name="Shape 8"/>
          <p:cNvSpPr/>
          <p:nvPr/>
        </p:nvSpPr>
        <p:spPr>
          <a:xfrm>
            <a:off x="7772400" y="1691640"/>
            <a:ext cx="3566160" cy="1417320"/>
          </a:xfrm>
          <a:prstGeom prst="roundRect">
            <a:avLst>
              <a:gd name="adj" fmla="val 5161"/>
            </a:avLst>
          </a:prstGeom>
          <a:solidFill>
            <a:srgbClr val="F2F7FA"/>
          </a:solidFill>
          <a:ln/>
          <a:effectLst>
            <a:outerShdw sx="100000" sy="100000" kx="0" ky="0" algn="bl" rotWithShape="0" blurRad="101600" dist="25400" dir="5400000">
              <a:srgbClr val="9AA8B2">
                <a:alpha val="28000"/>
              </a:srgbClr>
            </a:outerShdw>
          </a:effectLst>
        </p:spPr>
      </p:sp>
      <p:sp>
        <p:nvSpPr>
          <p:cNvPr id="11" name="Text 9"/>
          <p:cNvSpPr/>
          <p:nvPr/>
        </p:nvSpPr>
        <p:spPr>
          <a:xfrm>
            <a:off x="7863840" y="1837944"/>
            <a:ext cx="3383280" cy="737006"/>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1</a:t>
            </a:r>
            <a:endParaRPr lang="en-US" sz="4000" dirty="0"/>
          </a:p>
        </p:txBody>
      </p:sp>
      <p:sp>
        <p:nvSpPr>
          <p:cNvPr id="12" name="Text 10"/>
          <p:cNvSpPr/>
          <p:nvPr/>
        </p:nvSpPr>
        <p:spPr>
          <a:xfrm>
            <a:off x="7900416" y="2570378"/>
            <a:ext cx="3310128" cy="453542"/>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shared root cause behind all three</a:t>
            </a:r>
            <a:endParaRPr lang="en-US" sz="1150" dirty="0"/>
          </a:p>
        </p:txBody>
      </p:sp>
      <p:sp>
        <p:nvSpPr>
          <p:cNvPr id="13" name="Text 11"/>
          <p:cNvSpPr/>
          <p:nvPr/>
        </p:nvSpPr>
        <p:spPr>
          <a:xfrm>
            <a:off x="822960" y="3337560"/>
            <a:ext cx="10515600" cy="50292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Every tolerance band was fixed BEFORE the comparison was run, and never adjusted afterwards — the project’s validation principle requires results be reported honestly, whatever they are.</a:t>
            </a:r>
            <a:endParaRPr lang="en-US" sz="1400" dirty="0"/>
          </a:p>
        </p:txBody>
      </p:sp>
      <p:sp>
        <p:nvSpPr>
          <p:cNvPr id="14" name="Text 12"/>
          <p:cNvSpPr/>
          <p:nvPr/>
        </p:nvSpPr>
        <p:spPr>
          <a:xfrm>
            <a:off x="822960" y="3977640"/>
            <a:ext cx="512064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The three failures</a:t>
            </a:r>
            <a:endParaRPr lang="en-US" sz="1500" dirty="0"/>
          </a:p>
        </p:txBody>
      </p:sp>
      <p:sp>
        <p:nvSpPr>
          <p:cNvPr id="15" name="Text 13"/>
          <p:cNvSpPr/>
          <p:nvPr/>
        </p:nvSpPr>
        <p:spPr>
          <a:xfrm>
            <a:off x="822960" y="4343400"/>
            <a:ext cx="5120640" cy="13716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1A1A1A"/>
                </a:solidFill>
                <a:latin typeface="Calibri" pitchFamily="34" charset="0"/>
                <a:ea typeface="Calibri" pitchFamily="34" charset="-122"/>
                <a:cs typeface="Calibri" pitchFamily="34" charset="-120"/>
              </a:rPr>
              <a:t>Kᵢₓ(3 eV) vs Turner (2014):  −39.2%  against ±30%</a:t>
            </a:r>
            <a:endParaRPr lang="en-US" sz="1350" dirty="0"/>
          </a:p>
          <a:p>
            <a:pPr marL="342900" indent="-342900">
              <a:spcAft>
                <a:spcPts val="900"/>
              </a:spcAft>
              <a:buSzPct val="100000"/>
              <a:buChar char="•"/>
            </a:pPr>
            <a:r>
              <a:rPr lang="en-US" sz="1350" dirty="0">
                <a:solidFill>
                  <a:srgbClr val="1A1A1A"/>
                </a:solidFill>
                <a:latin typeface="Calibri" pitchFamily="34" charset="0"/>
                <a:ea typeface="Calibri" pitchFamily="34" charset="-122"/>
                <a:cs typeface="Calibri" pitchFamily="34" charset="-120"/>
              </a:rPr>
              <a:t>Kᵢₓ(3 eV) vs Jiménez-Redondo (2014):  −30.2%  — marginal</a:t>
            </a:r>
            <a:endParaRPr lang="en-US" sz="1350" dirty="0"/>
          </a:p>
          <a:p>
            <a:pPr marL="342900" indent="-342900">
              <a:spcAft>
                <a:spcPts val="900"/>
              </a:spcAft>
              <a:buSzPct val="100000"/>
              <a:buChar char="•"/>
            </a:pPr>
            <a:r>
              <a:rPr lang="en-US" sz="1350" dirty="0">
                <a:solidFill>
                  <a:srgbClr val="1A1A1A"/>
                </a:solidFill>
                <a:latin typeface="Calibri" pitchFamily="34" charset="0"/>
                <a:ea typeface="Calibri" pitchFamily="34" charset="-122"/>
                <a:cs typeface="Calibri" pitchFamily="34" charset="-120"/>
              </a:rPr>
              <a:t>Plasma density vs PIC line-average:  +41.7%</a:t>
            </a:r>
            <a:endParaRPr lang="en-US" sz="1350" dirty="0"/>
          </a:p>
        </p:txBody>
      </p:sp>
      <p:sp>
        <p:nvSpPr>
          <p:cNvPr id="16" name="Shape 14"/>
          <p:cNvSpPr/>
          <p:nvPr/>
        </p:nvSpPr>
        <p:spPr>
          <a:xfrm>
            <a:off x="6309360" y="3977640"/>
            <a:ext cx="5029200" cy="1737360"/>
          </a:xfrm>
          <a:prstGeom prst="roundRect">
            <a:avLst>
              <a:gd name="adj" fmla="val 3684"/>
            </a:avLst>
          </a:prstGeom>
          <a:solidFill>
            <a:srgbClr val="F2F7FA"/>
          </a:solidFill>
          <a:ln/>
          <a:effectLst>
            <a:outerShdw sx="100000" sy="100000" kx="0" ky="0" algn="bl" rotWithShape="0" blurRad="88900" dist="25400" dir="5400000">
              <a:srgbClr val="9AA8B2">
                <a:alpha val="22000"/>
              </a:srgbClr>
            </a:outerShdw>
          </a:effectLst>
        </p:spPr>
      </p:sp>
      <p:sp>
        <p:nvSpPr>
          <p:cNvPr id="17" name="Shape 15"/>
          <p:cNvSpPr/>
          <p:nvPr/>
        </p:nvSpPr>
        <p:spPr>
          <a:xfrm>
            <a:off x="6510528" y="4690872"/>
            <a:ext cx="310896" cy="310896"/>
          </a:xfrm>
          <a:prstGeom prst="ellipse">
            <a:avLst/>
          </a:prstGeom>
          <a:solidFill>
            <a:srgbClr val="1C7293"/>
          </a:solidFill>
          <a:ln/>
        </p:spPr>
      </p:sp>
      <p:sp>
        <p:nvSpPr>
          <p:cNvPr id="18" name="Text 16"/>
          <p:cNvSpPr/>
          <p:nvPr/>
        </p:nvSpPr>
        <p:spPr>
          <a:xfrm>
            <a:off x="6510528" y="469087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9" name="Text 17"/>
          <p:cNvSpPr/>
          <p:nvPr/>
        </p:nvSpPr>
        <p:spPr>
          <a:xfrm>
            <a:off x="6949440" y="4087368"/>
            <a:ext cx="4160520" cy="1517904"/>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Not a bug — a documented limitation.  </a:t>
            </a:r>
            <a:pPr indent="0" marL="0">
              <a:buNone/>
            </a:pPr>
            <a:r>
              <a:rPr lang="en-US" sz="1300" dirty="0">
                <a:solidFill>
                  <a:srgbClr val="1A1A1A"/>
                </a:solidFill>
                <a:latin typeface="Calibri" pitchFamily="34" charset="0"/>
                <a:ea typeface="Calibri" pitchFamily="34" charset="-122"/>
                <a:cs typeface="Calibri" pitchFamily="34" charset="-120"/>
              </a:rPr>
              <a:t>The rate coefficient was an unattributed “representative” fit. The deviation was already recorded in the code before anyone asked about it.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All three failures share one origin</a:t>
            </a:r>
            <a:endParaRPr lang="en-US" sz="3000" dirty="0"/>
          </a:p>
        </p:txBody>
      </p:sp>
      <p:sp>
        <p:nvSpPr>
          <p:cNvPr id="3" name="Text 1"/>
          <p:cNvSpPr/>
          <p:nvPr/>
        </p:nvSpPr>
        <p:spPr>
          <a:xfrm>
            <a:off x="566928" y="1133856"/>
            <a:ext cx="11064240" cy="310896"/>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The argon ionization rate coefficient Kᵢₓ(Tₑ) was low relative to published data — and that bias propagates.</a:t>
            </a:r>
            <a:endParaRPr lang="en-US" sz="1350" dirty="0"/>
          </a:p>
        </p:txBody>
      </p:sp>
      <p:pic>
        <p:nvPicPr>
          <p:cNvPr id="4" name="Image 0" descr="C:\Users\Rayyan Taimoor\Desktop\cs 6\fyp\final\plasma-digital-twin\error_fixing_attempts\figures\fig3_anchor_comparison.png">    </p:cNvPr>
          <p:cNvPicPr>
            <a:picLocks noChangeAspect="1"/>
          </p:cNvPicPr>
          <p:nvPr/>
        </p:nvPicPr>
        <p:blipFill>
          <a:blip r:embed="rId1"/>
          <a:stretch>
            <a:fillRect/>
          </a:stretch>
        </p:blipFill>
        <p:spPr>
          <a:xfrm>
            <a:off x="685800" y="1645920"/>
            <a:ext cx="5943600" cy="3300984"/>
          </a:xfrm>
          <a:prstGeom prst="rect">
            <a:avLst/>
          </a:prstGeom>
        </p:spPr>
      </p:pic>
      <p:sp>
        <p:nvSpPr>
          <p:cNvPr id="5" name="Text 2"/>
          <p:cNvSpPr/>
          <p:nvPr/>
        </p:nvSpPr>
        <p:spPr>
          <a:xfrm>
            <a:off x="6858000" y="1691640"/>
            <a:ext cx="448056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Why one cause gives three failures</a:t>
            </a:r>
            <a:endParaRPr lang="en-US" sz="1500" dirty="0"/>
          </a:p>
        </p:txBody>
      </p:sp>
      <p:sp>
        <p:nvSpPr>
          <p:cNvPr id="6" name="Text 3"/>
          <p:cNvSpPr/>
          <p:nvPr/>
        </p:nvSpPr>
        <p:spPr>
          <a:xfrm>
            <a:off x="6858000" y="2084832"/>
            <a:ext cx="4480560" cy="22860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Two checks compare Kᵢₓ itself, against two different sources.</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The third is density — which depends on the energy-loss term, which depends on Kᵢₓ. The same bias flows through.</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Density lands almost exactly on the PIC centre value (+4.4%) but misses the line-average. Expected: a 0D model has no spatial structure.</a:t>
            </a:r>
            <a:endParaRPr lang="en-US" sz="1300" dirty="0"/>
          </a:p>
        </p:txBody>
      </p:sp>
      <p:sp>
        <p:nvSpPr>
          <p:cNvPr id="7" name="Shape 4"/>
          <p:cNvSpPr/>
          <p:nvPr/>
        </p:nvSpPr>
        <p:spPr>
          <a:xfrm>
            <a:off x="6858000" y="4526280"/>
            <a:ext cx="4480560" cy="1234440"/>
          </a:xfrm>
          <a:prstGeom prst="roundRect">
            <a:avLst>
              <a:gd name="adj" fmla="val 5185"/>
            </a:avLst>
          </a:prstGeom>
          <a:solidFill>
            <a:srgbClr val="F2F7FA"/>
          </a:solidFill>
          <a:ln/>
          <a:effectLst>
            <a:outerShdw sx="100000" sy="100000" kx="0" ky="0" algn="bl" rotWithShape="0" blurRad="88900" dist="25400" dir="5400000">
              <a:srgbClr val="9AA8B2">
                <a:alpha val="22000"/>
              </a:srgbClr>
            </a:outerShdw>
          </a:effectLst>
        </p:spPr>
      </p:sp>
      <p:sp>
        <p:nvSpPr>
          <p:cNvPr id="8" name="Shape 5"/>
          <p:cNvSpPr/>
          <p:nvPr/>
        </p:nvSpPr>
        <p:spPr>
          <a:xfrm>
            <a:off x="7059168" y="4988052"/>
            <a:ext cx="310896" cy="310896"/>
          </a:xfrm>
          <a:prstGeom prst="ellipse">
            <a:avLst/>
          </a:prstGeom>
          <a:solidFill>
            <a:srgbClr val="1C7293"/>
          </a:solidFill>
          <a:ln/>
        </p:spPr>
      </p:sp>
      <p:sp>
        <p:nvSpPr>
          <p:cNvPr id="9" name="Text 6"/>
          <p:cNvSpPr/>
          <p:nvPr/>
        </p:nvSpPr>
        <p:spPr>
          <a:xfrm>
            <a:off x="7059168" y="498805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7"/>
          <p:cNvSpPr/>
          <p:nvPr/>
        </p:nvSpPr>
        <p:spPr>
          <a:xfrm>
            <a:off x="7498080" y="4636008"/>
            <a:ext cx="3611880" cy="1014984"/>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Note the spread.  </a:t>
            </a:r>
            <a:pPr indent="0" marL="0">
              <a:buNone/>
            </a:pPr>
            <a:r>
              <a:rPr lang="en-US" sz="1300" dirty="0">
                <a:solidFill>
                  <a:srgbClr val="1A1A1A"/>
                </a:solidFill>
                <a:latin typeface="Calibri" pitchFamily="34" charset="0"/>
                <a:ea typeface="Calibri" pitchFamily="34" charset="-122"/>
                <a:cs typeface="Calibri" pitchFamily="34" charset="-120"/>
              </a:rPr>
              <a:t>The three published anchors disagree with each other by ~40%, so no single formula can satisfy all three at once.</a:t>
            </a:r>
            <a:endParaRPr lang="en-US" sz="1400" dirty="0"/>
          </a:p>
        </p:txBody>
      </p:sp>
      <p:sp>
        <p:nvSpPr>
          <p:cNvPr id="11" name="Text 8"/>
          <p:cNvSpPr/>
          <p:nvPr/>
        </p:nvSpPr>
        <p:spPr>
          <a:xfrm>
            <a:off x="822960" y="5074920"/>
            <a:ext cx="10515600" cy="310896"/>
          </a:xfrm>
          <a:prstGeom prst="rect">
            <a:avLst/>
          </a:prstGeom>
          <a:noFill/>
          <a:ln/>
        </p:spPr>
        <p:txBody>
          <a:bodyPr wrap="square" lIns="0" tIns="0" rIns="0" bIns="0" rtlCol="0" anchor="ctr"/>
          <a:lstStyle/>
          <a:p>
            <a:pPr algn="ctr" indent="0" marL="0">
              <a:buNone/>
            </a:pPr>
            <a:r>
              <a:rPr lang="en-US" sz="1100" i="1" dirty="0">
                <a:solidFill>
                  <a:srgbClr val="5A6570"/>
                </a:solidFill>
                <a:latin typeface="Calibri" pitchFamily="34" charset="0"/>
                <a:ea typeface="Calibri" pitchFamily="34" charset="-122"/>
                <a:cs typeface="Calibri" pitchFamily="34" charset="-120"/>
              </a:rPr>
              <a:t>Kᵢₓ(3 eV): the engine’s fit against the three published benchmark anchors.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Why we chose to attempt a fix at all</a:t>
            </a:r>
            <a:endParaRPr lang="en-US" sz="3000" dirty="0"/>
          </a:p>
        </p:txBody>
      </p:sp>
      <p:sp>
        <p:nvSpPr>
          <p:cNvPr id="3" name="Text 1"/>
          <p:cNvSpPr/>
          <p:nvPr/>
        </p:nvSpPr>
        <p:spPr>
          <a:xfrm>
            <a:off x="566928" y="1133856"/>
            <a:ext cx="11064240" cy="310896"/>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Leaving it alone was defensible — so the motive for acting needs stating explicitly.</a:t>
            </a:r>
            <a:endParaRPr lang="en-US" sz="1350" dirty="0"/>
          </a:p>
        </p:txBody>
      </p:sp>
      <p:sp>
        <p:nvSpPr>
          <p:cNvPr id="4" name="Shape 2"/>
          <p:cNvSpPr/>
          <p:nvPr/>
        </p:nvSpPr>
        <p:spPr>
          <a:xfrm>
            <a:off x="822960" y="1801368"/>
            <a:ext cx="384048" cy="384048"/>
          </a:xfrm>
          <a:prstGeom prst="ellipse">
            <a:avLst/>
          </a:prstGeom>
          <a:solidFill>
            <a:srgbClr val="065A82"/>
          </a:solidFill>
          <a:ln/>
        </p:spPr>
      </p:sp>
      <p:sp>
        <p:nvSpPr>
          <p:cNvPr id="5" name="Text 3"/>
          <p:cNvSpPr/>
          <p:nvPr/>
        </p:nvSpPr>
        <p:spPr>
          <a:xfrm>
            <a:off x="822960" y="1801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353312" y="1783080"/>
            <a:ext cx="449884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A coefficient with no traceable source is a defensibility weakness</a:t>
            </a:r>
            <a:endParaRPr lang="en-US" sz="1500" dirty="0"/>
          </a:p>
        </p:txBody>
      </p:sp>
      <p:sp>
        <p:nvSpPr>
          <p:cNvPr id="7" name="Text 5"/>
          <p:cNvSpPr/>
          <p:nvPr/>
        </p:nvSpPr>
        <p:spPr>
          <a:xfrm>
            <a:off x="1353312" y="2084832"/>
            <a:ext cx="449884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The docstring credited Lieberman &amp; Lichtenberg loosely, but the constants transcribe no specific published table. “Where did these three numbers come from?” had no good answer.</a:t>
            </a:r>
            <a:endParaRPr lang="en-US" sz="1250" dirty="0"/>
          </a:p>
        </p:txBody>
      </p:sp>
      <p:sp>
        <p:nvSpPr>
          <p:cNvPr id="8" name="Shape 6"/>
          <p:cNvSpPr/>
          <p:nvPr/>
        </p:nvSpPr>
        <p:spPr>
          <a:xfrm>
            <a:off x="822960" y="2990088"/>
            <a:ext cx="384048" cy="384048"/>
          </a:xfrm>
          <a:prstGeom prst="ellipse">
            <a:avLst/>
          </a:prstGeom>
          <a:solidFill>
            <a:srgbClr val="065A82"/>
          </a:solidFill>
          <a:ln/>
        </p:spPr>
      </p:sp>
      <p:sp>
        <p:nvSpPr>
          <p:cNvPr id="9" name="Text 7"/>
          <p:cNvSpPr/>
          <p:nvPr/>
        </p:nvSpPr>
        <p:spPr>
          <a:xfrm>
            <a:off x="82296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353312" y="2971800"/>
            <a:ext cx="449884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It was the single shared cause behind all three failures</a:t>
            </a:r>
            <a:endParaRPr lang="en-US" sz="1500" dirty="0"/>
          </a:p>
        </p:txBody>
      </p:sp>
      <p:sp>
        <p:nvSpPr>
          <p:cNvPr id="11" name="Text 9"/>
          <p:cNvSpPr/>
          <p:nvPr/>
        </p:nvSpPr>
        <p:spPr>
          <a:xfrm>
            <a:off x="1353312" y="3273552"/>
            <a:ext cx="449884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A correction here could move three of the nine checks at once, rather than patching them piecemeal.</a:t>
            </a:r>
            <a:endParaRPr lang="en-US" sz="1250" dirty="0"/>
          </a:p>
        </p:txBody>
      </p:sp>
      <p:sp>
        <p:nvSpPr>
          <p:cNvPr id="12" name="Shape 10"/>
          <p:cNvSpPr/>
          <p:nvPr/>
        </p:nvSpPr>
        <p:spPr>
          <a:xfrm>
            <a:off x="6309360" y="1801368"/>
            <a:ext cx="384048" cy="384048"/>
          </a:xfrm>
          <a:prstGeom prst="ellipse">
            <a:avLst/>
          </a:prstGeom>
          <a:solidFill>
            <a:srgbClr val="065A82"/>
          </a:solidFill>
          <a:ln/>
        </p:spPr>
      </p:sp>
      <p:sp>
        <p:nvSpPr>
          <p:cNvPr id="13" name="Text 11"/>
          <p:cNvSpPr/>
          <p:nvPr/>
        </p:nvSpPr>
        <p:spPr>
          <a:xfrm>
            <a:off x="6309360" y="1801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6839712" y="1783080"/>
            <a:ext cx="449884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Provenance is improvable without touching the model’s structure</a:t>
            </a:r>
            <a:endParaRPr lang="en-US" sz="1500" dirty="0"/>
          </a:p>
        </p:txBody>
      </p:sp>
      <p:sp>
        <p:nvSpPr>
          <p:cNvPr id="15" name="Text 13"/>
          <p:cNvSpPr/>
          <p:nvPr/>
        </p:nvSpPr>
        <p:spPr>
          <a:xfrm>
            <a:off x="6839712" y="2084832"/>
            <a:ext cx="449884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Re-deriving constants from published data is a legitimate input-side correction — categorically different from tuning the model until its output matches.</a:t>
            </a:r>
            <a:endParaRPr lang="en-US" sz="1250" dirty="0"/>
          </a:p>
        </p:txBody>
      </p:sp>
      <p:sp>
        <p:nvSpPr>
          <p:cNvPr id="16" name="Shape 14"/>
          <p:cNvSpPr/>
          <p:nvPr/>
        </p:nvSpPr>
        <p:spPr>
          <a:xfrm>
            <a:off x="6309360" y="2990088"/>
            <a:ext cx="384048" cy="384048"/>
          </a:xfrm>
          <a:prstGeom prst="ellipse">
            <a:avLst/>
          </a:prstGeom>
          <a:solidFill>
            <a:srgbClr val="065A82"/>
          </a:solidFill>
          <a:ln/>
        </p:spPr>
      </p:sp>
      <p:sp>
        <p:nvSpPr>
          <p:cNvPr id="17" name="Text 15"/>
          <p:cNvSpPr/>
          <p:nvPr/>
        </p:nvSpPr>
        <p:spPr>
          <a:xfrm>
            <a:off x="630936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6839712" y="2971800"/>
            <a:ext cx="449884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The cost of being wrong was near zero</a:t>
            </a:r>
            <a:endParaRPr lang="en-US" sz="1500" dirty="0"/>
          </a:p>
        </p:txBody>
      </p:sp>
      <p:sp>
        <p:nvSpPr>
          <p:cNvPr id="19" name="Text 17"/>
          <p:cNvSpPr/>
          <p:nvPr/>
        </p:nvSpPr>
        <p:spPr>
          <a:xfrm>
            <a:off x="6839712" y="3273552"/>
            <a:ext cx="449884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Done in an isolated worktree, with agreement beforehand that it would be reverted if it did not clearly help. A cheap experiment, not a risky change.</a:t>
            </a:r>
            <a:endParaRPr lang="en-US" sz="1250" dirty="0"/>
          </a:p>
        </p:txBody>
      </p:sp>
      <p:sp>
        <p:nvSpPr>
          <p:cNvPr id="20" name="Shape 18"/>
          <p:cNvSpPr/>
          <p:nvPr/>
        </p:nvSpPr>
        <p:spPr>
          <a:xfrm>
            <a:off x="822960" y="4206240"/>
            <a:ext cx="10515600" cy="914400"/>
          </a:xfrm>
          <a:prstGeom prst="roundRect">
            <a:avLst>
              <a:gd name="adj" fmla="val 7000"/>
            </a:avLst>
          </a:prstGeom>
          <a:solidFill>
            <a:srgbClr val="F2F7FA"/>
          </a:solidFill>
          <a:ln/>
          <a:effectLst>
            <a:outerShdw sx="100000" sy="100000" kx="0" ky="0" algn="bl" rotWithShape="0" blurRad="88900" dist="25400" dir="5400000">
              <a:srgbClr val="9AA8B2">
                <a:alpha val="22000"/>
              </a:srgbClr>
            </a:outerShdw>
          </a:effectLst>
        </p:spPr>
      </p:sp>
      <p:sp>
        <p:nvSpPr>
          <p:cNvPr id="21" name="Shape 19"/>
          <p:cNvSpPr/>
          <p:nvPr/>
        </p:nvSpPr>
        <p:spPr>
          <a:xfrm>
            <a:off x="1024128" y="4507992"/>
            <a:ext cx="310896" cy="310896"/>
          </a:xfrm>
          <a:prstGeom prst="ellipse">
            <a:avLst/>
          </a:prstGeom>
          <a:solidFill>
            <a:srgbClr val="1C7293"/>
          </a:solidFill>
          <a:ln/>
        </p:spPr>
      </p:sp>
      <p:sp>
        <p:nvSpPr>
          <p:cNvPr id="22" name="Text 20"/>
          <p:cNvSpPr/>
          <p:nvPr/>
        </p:nvSpPr>
        <p:spPr>
          <a:xfrm>
            <a:off x="1024128" y="450799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p:nvPr/>
        </p:nvSpPr>
        <p:spPr>
          <a:xfrm>
            <a:off x="1463040" y="4315968"/>
            <a:ext cx="9646920" cy="694944"/>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The intent was never to make more checks pass.  </a:t>
            </a:r>
            <a:pPr indent="0" marL="0">
              <a:buNone/>
            </a:pPr>
            <a:r>
              <a:rPr lang="en-US" sz="1300" dirty="0">
                <a:solidFill>
                  <a:srgbClr val="1A1A1A"/>
                </a:solidFill>
                <a:latin typeface="Calibri" pitchFamily="34" charset="0"/>
                <a:ea typeface="Calibri" pitchFamily="34" charset="-122"/>
                <a:cs typeface="Calibri" pitchFamily="34" charset="-120"/>
              </a:rPr>
              <a:t>It was to give the coefficient a verifiable origin — and to find out honestly what that did to the model.</a:t>
            </a:r>
            <a:endParaRPr lang="en-US" sz="1400" dirty="0"/>
          </a:p>
        </p:txBody>
      </p:sp>
      <p:sp>
        <p:nvSpPr>
          <p:cNvPr id="24" name="Text 22"/>
          <p:cNvSpPr/>
          <p:nvPr/>
        </p:nvSpPr>
        <p:spPr>
          <a:xfrm>
            <a:off x="822960" y="5303520"/>
            <a:ext cx="10515600" cy="457200"/>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That distinction matters: an attempt aimed at a better score would have been tuning. An attempt aimed at provenance is legitimate regardless of the outcome.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105156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was never in question</a:t>
            </a:r>
            <a:endParaRPr lang="en-US" sz="3200" dirty="0"/>
          </a:p>
        </p:txBody>
      </p:sp>
      <p:sp>
        <p:nvSpPr>
          <p:cNvPr id="3" name="Text 1"/>
          <p:cNvSpPr/>
          <p:nvPr/>
        </p:nvSpPr>
        <p:spPr>
          <a:xfrm>
            <a:off x="822960" y="1874520"/>
            <a:ext cx="10515600" cy="64008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Electron temperature Tₑ — the rigorously solved unknown from which every other output derives — passes BOTH of its checks.</a:t>
            </a:r>
            <a:endParaRPr lang="en-US" sz="1700" dirty="0"/>
          </a:p>
        </p:txBody>
      </p:sp>
      <p:sp>
        <p:nvSpPr>
          <p:cNvPr id="4" name="Shape 2"/>
          <p:cNvSpPr/>
          <p:nvPr/>
        </p:nvSpPr>
        <p:spPr>
          <a:xfrm>
            <a:off x="822960" y="2743200"/>
            <a:ext cx="3108960" cy="1371600"/>
          </a:xfrm>
          <a:prstGeom prst="roundRect">
            <a:avLst>
              <a:gd name="adj" fmla="val 5333"/>
            </a:avLst>
          </a:prstGeom>
          <a:solidFill>
            <a:srgbClr val="25405C"/>
          </a:solidFill>
          <a:ln/>
          <a:effectLst>
            <a:outerShdw sx="100000" sy="100000" kx="0" ky="0" algn="bl" rotWithShape="0" blurRad="101600" dist="25400" dir="5400000">
              <a:srgbClr val="9AA8B2">
                <a:alpha val="28000"/>
              </a:srgbClr>
            </a:outerShdw>
          </a:effectLst>
        </p:spPr>
      </p:sp>
      <p:sp>
        <p:nvSpPr>
          <p:cNvPr id="5" name="Text 3"/>
          <p:cNvSpPr/>
          <p:nvPr/>
        </p:nvSpPr>
        <p:spPr>
          <a:xfrm>
            <a:off x="914400" y="2889504"/>
            <a:ext cx="2926080" cy="713232"/>
          </a:xfrm>
          <a:prstGeom prst="rect">
            <a:avLst/>
          </a:prstGeom>
          <a:noFill/>
          <a:ln/>
        </p:spPr>
        <p:txBody>
          <a:bodyPr wrap="square" lIns="0" tIns="0" rIns="0" bIns="0" rtlCol="0" anchor="ctr"/>
          <a:lstStyle/>
          <a:p>
            <a:pPr algn="ctr" indent="0" marL="0">
              <a:buNone/>
            </a:pPr>
            <a:r>
              <a:rPr lang="en-US" sz="3400" b="1" dirty="0">
                <a:solidFill>
                  <a:srgbClr val="7BE07B"/>
                </a:solidFill>
                <a:latin typeface="Cambria" pitchFamily="34" charset="0"/>
                <a:ea typeface="Cambria" pitchFamily="34" charset="-122"/>
                <a:cs typeface="Cambria" pitchFamily="34" charset="-120"/>
              </a:rPr>
              <a:t>+9.6%</a:t>
            </a:r>
            <a:endParaRPr lang="en-US" sz="3400" dirty="0"/>
          </a:p>
        </p:txBody>
      </p:sp>
      <p:sp>
        <p:nvSpPr>
          <p:cNvPr id="6" name="Text 4"/>
          <p:cNvSpPr/>
          <p:nvPr/>
        </p:nvSpPr>
        <p:spPr>
          <a:xfrm>
            <a:off x="950976" y="3593592"/>
            <a:ext cx="2852928" cy="438912"/>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Tₑ vs Turner global model  (±30%)</a:t>
            </a:r>
            <a:endParaRPr lang="en-US" sz="1150" dirty="0"/>
          </a:p>
        </p:txBody>
      </p:sp>
      <p:sp>
        <p:nvSpPr>
          <p:cNvPr id="7" name="Shape 5"/>
          <p:cNvSpPr/>
          <p:nvPr/>
        </p:nvSpPr>
        <p:spPr>
          <a:xfrm>
            <a:off x="4160520" y="2743200"/>
            <a:ext cx="3108960" cy="1371600"/>
          </a:xfrm>
          <a:prstGeom prst="roundRect">
            <a:avLst>
              <a:gd name="adj" fmla="val 5333"/>
            </a:avLst>
          </a:prstGeom>
          <a:solidFill>
            <a:srgbClr val="25405C"/>
          </a:solidFill>
          <a:ln/>
          <a:effectLst>
            <a:outerShdw sx="100000" sy="100000" kx="0" ky="0" algn="bl" rotWithShape="0" blurRad="101600" dist="25400" dir="5400000">
              <a:srgbClr val="9AA8B2">
                <a:alpha val="28000"/>
              </a:srgbClr>
            </a:outerShdw>
          </a:effectLst>
        </p:spPr>
      </p:sp>
      <p:sp>
        <p:nvSpPr>
          <p:cNvPr id="8" name="Text 6"/>
          <p:cNvSpPr/>
          <p:nvPr/>
        </p:nvSpPr>
        <p:spPr>
          <a:xfrm>
            <a:off x="4251960" y="2889504"/>
            <a:ext cx="2926080" cy="713232"/>
          </a:xfrm>
          <a:prstGeom prst="rect">
            <a:avLst/>
          </a:prstGeom>
          <a:noFill/>
          <a:ln/>
        </p:spPr>
        <p:txBody>
          <a:bodyPr wrap="square" lIns="0" tIns="0" rIns="0" bIns="0" rtlCol="0" anchor="ctr"/>
          <a:lstStyle/>
          <a:p>
            <a:pPr algn="ctr" indent="0" marL="0">
              <a:buNone/>
            </a:pPr>
            <a:r>
              <a:rPr lang="en-US" sz="3400" b="1" dirty="0">
                <a:solidFill>
                  <a:srgbClr val="7BE07B"/>
                </a:solidFill>
                <a:latin typeface="Cambria" pitchFamily="34" charset="0"/>
                <a:ea typeface="Cambria" pitchFamily="34" charset="-122"/>
                <a:cs typeface="Cambria" pitchFamily="34" charset="-120"/>
              </a:rPr>
              <a:t>−8.7%</a:t>
            </a:r>
            <a:endParaRPr lang="en-US" sz="3400" dirty="0"/>
          </a:p>
        </p:txBody>
      </p:sp>
      <p:sp>
        <p:nvSpPr>
          <p:cNvPr id="9" name="Text 7"/>
          <p:cNvSpPr/>
          <p:nvPr/>
        </p:nvSpPr>
        <p:spPr>
          <a:xfrm>
            <a:off x="4288536" y="3593592"/>
            <a:ext cx="2852928" cy="438912"/>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Tₑ vs PIC ground truth  (±30%)</a:t>
            </a:r>
            <a:endParaRPr lang="en-US" sz="1150" dirty="0"/>
          </a:p>
        </p:txBody>
      </p:sp>
      <p:sp>
        <p:nvSpPr>
          <p:cNvPr id="10" name="Shape 8"/>
          <p:cNvSpPr/>
          <p:nvPr/>
        </p:nvSpPr>
        <p:spPr>
          <a:xfrm>
            <a:off x="7498080" y="2743200"/>
            <a:ext cx="3840480" cy="1371600"/>
          </a:xfrm>
          <a:prstGeom prst="roundRect">
            <a:avLst>
              <a:gd name="adj" fmla="val 5333"/>
            </a:avLst>
          </a:prstGeom>
          <a:solidFill>
            <a:srgbClr val="25405C"/>
          </a:solidFill>
          <a:ln/>
        </p:spPr>
      </p:sp>
      <p:sp>
        <p:nvSpPr>
          <p:cNvPr id="11" name="Text 9"/>
          <p:cNvSpPr/>
          <p:nvPr/>
        </p:nvSpPr>
        <p:spPr>
          <a:xfrm>
            <a:off x="7589520" y="2926080"/>
            <a:ext cx="3657600" cy="457200"/>
          </a:xfrm>
          <a:prstGeom prst="rect">
            <a:avLst/>
          </a:prstGeom>
          <a:noFill/>
          <a:ln/>
        </p:spPr>
        <p:txBody>
          <a:bodyPr wrap="square" lIns="0" tIns="0" rIns="0" bIns="0" rtlCol="0" anchor="ctr"/>
          <a:lstStyle/>
          <a:p>
            <a:pPr algn="ctr" indent="0" marL="0">
              <a:buNone/>
            </a:pPr>
            <a:r>
              <a:rPr lang="en-US" sz="2600" b="1" dirty="0">
                <a:solidFill>
                  <a:srgbClr val="7BE07B"/>
                </a:solidFill>
                <a:latin typeface="Cambria" pitchFamily="34" charset="0"/>
                <a:ea typeface="Cambria" pitchFamily="34" charset="-122"/>
                <a:cs typeface="Cambria" pitchFamily="34" charset="-120"/>
              </a:rPr>
              <a:t>Both PASS</a:t>
            </a:r>
            <a:endParaRPr lang="en-US" sz="2600" dirty="0"/>
          </a:p>
        </p:txBody>
      </p:sp>
      <p:sp>
        <p:nvSpPr>
          <p:cNvPr id="12" name="Text 10"/>
          <p:cNvSpPr/>
          <p:nvPr/>
        </p:nvSpPr>
        <p:spPr>
          <a:xfrm>
            <a:off x="7635240" y="3429000"/>
            <a:ext cx="3566160" cy="548640"/>
          </a:xfrm>
          <a:prstGeom prst="rect">
            <a:avLst/>
          </a:prstGeom>
          <a:noFill/>
          <a:ln/>
        </p:spPr>
        <p:txBody>
          <a:bodyPr wrap="square" lIns="0" tIns="0" rIns="0" bIns="0" rtlCol="0" anchor="t"/>
          <a:lstStyle/>
          <a:p>
            <a:pPr algn="ctr" indent="0" marL="0">
              <a:buNone/>
            </a:pPr>
            <a:r>
              <a:rPr lang="en-US" sz="1200" dirty="0">
                <a:solidFill>
                  <a:srgbClr val="AFC2DC"/>
                </a:solidFill>
                <a:latin typeface="Calibri" pitchFamily="34" charset="0"/>
                <a:ea typeface="Calibri" pitchFamily="34" charset="-122"/>
                <a:cs typeface="Calibri" pitchFamily="34" charset="-120"/>
              </a:rPr>
              <a:t>the physically decisive quantity is sound</a:t>
            </a:r>
            <a:endParaRPr lang="en-US" sz="1200" dirty="0"/>
          </a:p>
        </p:txBody>
      </p:sp>
      <p:sp>
        <p:nvSpPr>
          <p:cNvPr id="13" name="Text 11"/>
          <p:cNvSpPr/>
          <p:nvPr/>
        </p:nvSpPr>
        <p:spPr>
          <a:xfrm>
            <a:off x="822960" y="4526280"/>
            <a:ext cx="10515600" cy="914400"/>
          </a:xfrm>
          <a:prstGeom prst="rect">
            <a:avLst/>
          </a:prstGeom>
          <a:noFill/>
          <a:ln/>
        </p:spPr>
        <p:txBody>
          <a:bodyPr wrap="square" lIns="0" tIns="0" rIns="0" bIns="0" rtlCol="0" anchor="t"/>
          <a:lstStyle/>
          <a:p>
            <a:pPr indent="0" marL="0">
              <a:buNone/>
            </a:pPr>
            <a:r>
              <a:rPr lang="en-US" sz="1500" dirty="0">
                <a:solidFill>
                  <a:srgbClr val="E4ECF7"/>
                </a:solidFill>
                <a:latin typeface="Calibri" pitchFamily="34" charset="0"/>
                <a:ea typeface="Calibri" pitchFamily="34" charset="-122"/>
                <a:cs typeface="Calibri" pitchFamily="34" charset="-120"/>
              </a:rPr>
              <a:t>Because Tₑ is obtained by a root-find on an exponential balance equation, a biased Kᵢₓ partially self-corrects in the solved temperature. The failures are therefore confined to the rate coefficient and to density — not to the core solve.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Step 1 — a verified, genuinely independent source</a:t>
            </a:r>
            <a:endParaRPr lang="en-US" sz="3000" dirty="0"/>
          </a:p>
        </p:txBody>
      </p:sp>
      <p:sp>
        <p:nvSpPr>
          <p:cNvPr id="3" name="Text 1"/>
          <p:cNvSpPr/>
          <p:nvPr/>
        </p:nvSpPr>
        <p:spPr>
          <a:xfrm>
            <a:off x="566928" y="1133856"/>
            <a:ext cx="11064240" cy="310896"/>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Non-negotiable rule: every reference value must be read from the actual document, never recalled from memory.</a:t>
            </a:r>
            <a:endParaRPr lang="en-US" sz="1350" dirty="0"/>
          </a:p>
        </p:txBody>
      </p:sp>
      <p:sp>
        <p:nvSpPr>
          <p:cNvPr id="4" name="Shape 2"/>
          <p:cNvSpPr/>
          <p:nvPr/>
        </p:nvSpPr>
        <p:spPr>
          <a:xfrm>
            <a:off x="822960" y="1691640"/>
            <a:ext cx="10515600" cy="1143000"/>
          </a:xfrm>
          <a:prstGeom prst="roundRect">
            <a:avLst>
              <a:gd name="adj" fmla="val 5600"/>
            </a:avLst>
          </a:prstGeom>
          <a:solidFill>
            <a:srgbClr val="F2F7FA"/>
          </a:solidFill>
          <a:ln/>
          <a:effectLst>
            <a:outerShdw sx="100000" sy="100000" kx="0" ky="0" algn="bl" rotWithShape="0" blurRad="88900" dist="25400" dir="5400000">
              <a:srgbClr val="9AA8B2">
                <a:alpha val="22000"/>
              </a:srgbClr>
            </a:outerShdw>
          </a:effectLst>
        </p:spPr>
      </p:sp>
      <p:sp>
        <p:nvSpPr>
          <p:cNvPr id="5" name="Text 3"/>
          <p:cNvSpPr/>
          <p:nvPr/>
        </p:nvSpPr>
        <p:spPr>
          <a:xfrm>
            <a:off x="1051560" y="1810512"/>
            <a:ext cx="10058400" cy="9144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G. S. Voronov</a:t>
            </a:r>
            <a:pPr indent="0" marL="0">
              <a:buNone/>
            </a:pPr>
            <a:r>
              <a:rPr lang="en-US" sz="1400" dirty="0">
                <a:solidFill>
                  <a:srgbClr val="1A1A1A"/>
                </a:solidFill>
                <a:latin typeface="Calibri" pitchFamily="34" charset="0"/>
                <a:ea typeface="Calibri" pitchFamily="34" charset="-122"/>
                <a:cs typeface="Calibri" pitchFamily="34" charset="-120"/>
              </a:rPr>
              <a:t>, “A practical fit formula for ionization rate coefficients of atoms and ions by electron impact: Z = 1–28,” </a:t>
            </a:r>
            <a:pPr indent="0" marL="0">
              <a:buNone/>
            </a:pPr>
            <a:r>
              <a:rPr lang="en-US" sz="1400" i="1" dirty="0">
                <a:solidFill>
                  <a:srgbClr val="1A1A1A"/>
                </a:solidFill>
                <a:latin typeface="Calibri" pitchFamily="34" charset="0"/>
                <a:ea typeface="Calibri" pitchFamily="34" charset="-122"/>
                <a:cs typeface="Calibri" pitchFamily="34" charset="-120"/>
              </a:rPr>
              <a:t>Atomic Data and Nuclear Data Tables</a:t>
            </a:r>
            <a:pPr indent="0" marL="0">
              <a:buNone/>
            </a:pPr>
            <a:r>
              <a:rPr lang="en-US" sz="1400" dirty="0">
                <a:solidFill>
                  <a:srgbClr val="1A1A1A"/>
                </a:solidFill>
                <a:latin typeface="Calibri" pitchFamily="34" charset="0"/>
                <a:ea typeface="Calibri" pitchFamily="34" charset="-122"/>
                <a:cs typeface="Calibri" pitchFamily="34" charset="-120"/>
              </a:rPr>
              <a:t> 65, 1 (1997).   DOI 10.1006/adnd.1997.0732</a:t>
            </a:r>
            <a:endParaRPr lang="en-US" sz="1600" dirty="0"/>
          </a:p>
        </p:txBody>
      </p:sp>
      <p:sp>
        <p:nvSpPr>
          <p:cNvPr id="6" name="Shape 4"/>
          <p:cNvSpPr/>
          <p:nvPr/>
        </p:nvSpPr>
        <p:spPr>
          <a:xfrm>
            <a:off x="822960" y="2971800"/>
            <a:ext cx="10515600" cy="475488"/>
          </a:xfrm>
          <a:prstGeom prst="roundRect">
            <a:avLst>
              <a:gd name="adj" fmla="val 9615"/>
            </a:avLst>
          </a:prstGeom>
          <a:solidFill>
            <a:srgbClr val="F4F6F8"/>
          </a:solidFill>
          <a:ln/>
        </p:spPr>
      </p:sp>
      <p:sp>
        <p:nvSpPr>
          <p:cNvPr id="7" name="Text 5"/>
          <p:cNvSpPr/>
          <p:nvPr/>
        </p:nvSpPr>
        <p:spPr>
          <a:xfrm>
            <a:off x="969264" y="3044952"/>
            <a:ext cx="10222992" cy="329184"/>
          </a:xfrm>
          <a:prstGeom prst="rect">
            <a:avLst/>
          </a:prstGeom>
          <a:noFill/>
          <a:ln/>
        </p:spPr>
        <p:txBody>
          <a:bodyPr wrap="square" lIns="0" tIns="0" rIns="0" bIns="0" rtlCol="0" anchor="ctr"/>
          <a:lstStyle/>
          <a:p>
            <a:pPr indent="0" marL="0">
              <a:buNone/>
            </a:pPr>
            <a:r>
              <a:rPr lang="en-US" sz="1100" dirty="0">
                <a:solidFill>
                  <a:srgbClr val="1A1A1A"/>
                </a:solidFill>
                <a:latin typeface="Courier New" pitchFamily="34" charset="0"/>
                <a:ea typeface="Courier New" pitchFamily="34" charset="-122"/>
                <a:cs typeface="Courier New" pitchFamily="34" charset="-120"/>
              </a:rPr>
              <a:t>Ar  18 18   dE = 15.8 eV   A = 5.99e-8 cm3/s   P = 1   X = 0.1360   K = 0.26   (1 eV - 20 keV)</a:t>
            </a:r>
            <a:endParaRPr lang="en-US" sz="1100" dirty="0"/>
          </a:p>
        </p:txBody>
      </p:sp>
      <p:sp>
        <p:nvSpPr>
          <p:cNvPr id="8" name="Text 6"/>
          <p:cNvSpPr/>
          <p:nvPr/>
        </p:nvSpPr>
        <p:spPr>
          <a:xfrm>
            <a:off x="822960" y="3639312"/>
            <a:ext cx="1051560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Independence was verified, not assumed</a:t>
            </a:r>
            <a:endParaRPr lang="en-US" sz="1500" dirty="0"/>
          </a:p>
        </p:txBody>
      </p:sp>
      <p:sp>
        <p:nvSpPr>
          <p:cNvPr id="9" name="Shape 7"/>
          <p:cNvSpPr/>
          <p:nvPr/>
        </p:nvSpPr>
        <p:spPr>
          <a:xfrm>
            <a:off x="822960" y="4041648"/>
            <a:ext cx="384048" cy="384048"/>
          </a:xfrm>
          <a:prstGeom prst="ellipse">
            <a:avLst/>
          </a:prstGeom>
          <a:solidFill>
            <a:srgbClr val="065A82"/>
          </a:solidFill>
          <a:ln/>
        </p:spPr>
      </p:sp>
      <p:sp>
        <p:nvSpPr>
          <p:cNvPr id="10" name="Text 8"/>
          <p:cNvSpPr/>
          <p:nvPr/>
        </p:nvSpPr>
        <p:spPr>
          <a:xfrm>
            <a:off x="822960" y="4041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353312" y="4023360"/>
            <a:ext cx="285292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Predates all three anchors</a:t>
            </a:r>
            <a:endParaRPr lang="en-US" sz="1500" dirty="0"/>
          </a:p>
        </p:txBody>
      </p:sp>
      <p:sp>
        <p:nvSpPr>
          <p:cNvPr id="12" name="Text 10"/>
          <p:cNvSpPr/>
          <p:nvPr/>
        </p:nvSpPr>
        <p:spPr>
          <a:xfrm>
            <a:off x="1353312" y="4325112"/>
            <a:ext cx="285292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Published 1997 — before Turner (2014), Jiménez-Redondo (2014) and Chabert (2011).</a:t>
            </a:r>
            <a:endParaRPr lang="en-US" sz="1250" dirty="0"/>
          </a:p>
        </p:txBody>
      </p:sp>
      <p:sp>
        <p:nvSpPr>
          <p:cNvPr id="13" name="Shape 11"/>
          <p:cNvSpPr/>
          <p:nvPr/>
        </p:nvSpPr>
        <p:spPr>
          <a:xfrm>
            <a:off x="4343400" y="4041648"/>
            <a:ext cx="384048" cy="384048"/>
          </a:xfrm>
          <a:prstGeom prst="ellipse">
            <a:avLst/>
          </a:prstGeom>
          <a:solidFill>
            <a:srgbClr val="065A82"/>
          </a:solidFill>
          <a:ln/>
        </p:spPr>
      </p:sp>
      <p:sp>
        <p:nvSpPr>
          <p:cNvPr id="14" name="Text 12"/>
          <p:cNvSpPr/>
          <p:nvPr/>
        </p:nvSpPr>
        <p:spPr>
          <a:xfrm>
            <a:off x="4343400" y="4041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4873752" y="4023360"/>
            <a:ext cx="285292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Different literature lineage</a:t>
            </a:r>
            <a:endParaRPr lang="en-US" sz="1500" dirty="0"/>
          </a:p>
        </p:txBody>
      </p:sp>
      <p:sp>
        <p:nvSpPr>
          <p:cNvPr id="16" name="Text 14"/>
          <p:cNvSpPr/>
          <p:nvPr/>
        </p:nvSpPr>
        <p:spPr>
          <a:xfrm>
            <a:off x="4873752" y="4325112"/>
            <a:ext cx="285292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Atomic-data / astrophysics, calibrated on Belfast (Bell-group) data — not the Lieberman &amp; Lichtenberg line the engine descends from.</a:t>
            </a:r>
            <a:endParaRPr lang="en-US" sz="1250" dirty="0"/>
          </a:p>
        </p:txBody>
      </p:sp>
      <p:sp>
        <p:nvSpPr>
          <p:cNvPr id="17" name="Shape 15"/>
          <p:cNvSpPr/>
          <p:nvPr/>
        </p:nvSpPr>
        <p:spPr>
          <a:xfrm>
            <a:off x="7863840" y="4041648"/>
            <a:ext cx="384048" cy="384048"/>
          </a:xfrm>
          <a:prstGeom prst="ellipse">
            <a:avLst/>
          </a:prstGeom>
          <a:solidFill>
            <a:srgbClr val="065A82"/>
          </a:solidFill>
          <a:ln/>
        </p:spPr>
      </p:sp>
      <p:sp>
        <p:nvSpPr>
          <p:cNvPr id="18" name="Text 16"/>
          <p:cNvSpPr/>
          <p:nvPr/>
        </p:nvSpPr>
        <p:spPr>
          <a:xfrm>
            <a:off x="7863840" y="4041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394192" y="4023360"/>
            <a:ext cx="294436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Transcription cross-checked</a:t>
            </a:r>
            <a:endParaRPr lang="en-US" sz="1500" dirty="0"/>
          </a:p>
        </p:txBody>
      </p:sp>
      <p:sp>
        <p:nvSpPr>
          <p:cNvPr id="20" name="Text 18"/>
          <p:cNvSpPr/>
          <p:nvPr/>
        </p:nvSpPr>
        <p:spPr>
          <a:xfrm>
            <a:off x="8394192" y="4325112"/>
            <a:ext cx="294436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Parameters read first-hand from the machine-readable table, and confirmed against an unrelated publication.</a:t>
            </a:r>
            <a:endParaRPr lang="en-US" sz="1250" dirty="0"/>
          </a:p>
        </p:txBody>
      </p:sp>
      <p:sp>
        <p:nvSpPr>
          <p:cNvPr id="21" name="Shape 19"/>
          <p:cNvSpPr/>
          <p:nvPr/>
        </p:nvSpPr>
        <p:spPr>
          <a:xfrm>
            <a:off x="822960" y="5138928"/>
            <a:ext cx="10515600" cy="658368"/>
          </a:xfrm>
          <a:prstGeom prst="roundRect">
            <a:avLst>
              <a:gd name="adj" fmla="val 9722"/>
            </a:avLst>
          </a:prstGeom>
          <a:solidFill>
            <a:srgbClr val="F2F7FA"/>
          </a:solidFill>
          <a:ln/>
          <a:effectLst>
            <a:outerShdw sx="100000" sy="100000" kx="0" ky="0" algn="bl" rotWithShape="0" blurRad="88900" dist="25400" dir="5400000">
              <a:srgbClr val="9AA8B2">
                <a:alpha val="22000"/>
              </a:srgbClr>
            </a:outerShdw>
          </a:effectLst>
        </p:spPr>
      </p:sp>
      <p:sp>
        <p:nvSpPr>
          <p:cNvPr id="22" name="Shape 20"/>
          <p:cNvSpPr/>
          <p:nvPr/>
        </p:nvSpPr>
        <p:spPr>
          <a:xfrm>
            <a:off x="1024128" y="5312664"/>
            <a:ext cx="310896" cy="310896"/>
          </a:xfrm>
          <a:prstGeom prst="ellipse">
            <a:avLst/>
          </a:prstGeom>
          <a:solidFill>
            <a:srgbClr val="1C7293"/>
          </a:solidFill>
          <a:ln/>
        </p:spPr>
      </p:sp>
      <p:sp>
        <p:nvSpPr>
          <p:cNvPr id="23" name="Text 21"/>
          <p:cNvSpPr/>
          <p:nvPr/>
        </p:nvSpPr>
        <p:spPr>
          <a:xfrm>
            <a:off x="1024128" y="5312664"/>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4" name="Text 22"/>
          <p:cNvSpPr/>
          <p:nvPr/>
        </p:nvSpPr>
        <p:spPr>
          <a:xfrm>
            <a:off x="1463040" y="5248656"/>
            <a:ext cx="9646920" cy="43891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Train / test separation:  </a:t>
            </a:r>
            <a:pPr indent="0" marL="0">
              <a:buNone/>
            </a:pPr>
            <a:r>
              <a:rPr lang="en-US" sz="1300" dirty="0">
                <a:solidFill>
                  <a:srgbClr val="1A1A1A"/>
                </a:solidFill>
                <a:latin typeface="Calibri" pitchFamily="34" charset="0"/>
                <a:ea typeface="Calibri" pitchFamily="34" charset="-122"/>
                <a:cs typeface="Calibri" pitchFamily="34" charset="-120"/>
              </a:rPr>
              <a:t>the three benchmark anchors were excluded as refit targets — fitting to a source then testing against it would be circular.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Step 2 — methodology fixed in advance</a:t>
            </a:r>
            <a:endParaRPr lang="en-US" sz="3000" dirty="0"/>
          </a:p>
        </p:txBody>
      </p:sp>
      <p:sp>
        <p:nvSpPr>
          <p:cNvPr id="3" name="Text 1"/>
          <p:cNvSpPr/>
          <p:nvPr/>
        </p:nvSpPr>
        <p:spPr>
          <a:xfrm>
            <a:off x="566928" y="1133856"/>
            <a:ext cx="11064240" cy="310896"/>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Pre-registered before a single number was computed, so the result could not be quietly steered.</a:t>
            </a:r>
            <a:endParaRPr lang="en-US" sz="1350" dirty="0"/>
          </a:p>
        </p:txBody>
      </p:sp>
      <p:sp>
        <p:nvSpPr>
          <p:cNvPr id="4" name="Shape 2"/>
          <p:cNvSpPr/>
          <p:nvPr/>
        </p:nvSpPr>
        <p:spPr>
          <a:xfrm>
            <a:off x="822960" y="1801368"/>
            <a:ext cx="384048" cy="384048"/>
          </a:xfrm>
          <a:prstGeom prst="ellipse">
            <a:avLst/>
          </a:prstGeom>
          <a:solidFill>
            <a:srgbClr val="065A82"/>
          </a:solidFill>
          <a:ln/>
        </p:spPr>
      </p:sp>
      <p:sp>
        <p:nvSpPr>
          <p:cNvPr id="5" name="Text 3"/>
          <p:cNvSpPr/>
          <p:nvPr/>
        </p:nvSpPr>
        <p:spPr>
          <a:xfrm>
            <a:off x="822960" y="1801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353312" y="1783080"/>
            <a:ext cx="449884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Fit window fixed at Tₑ = 1–10 eV, before fitting</a:t>
            </a:r>
            <a:endParaRPr lang="en-US" sz="1500" dirty="0"/>
          </a:p>
        </p:txBody>
      </p:sp>
      <p:sp>
        <p:nvSpPr>
          <p:cNvPr id="7" name="Text 5"/>
          <p:cNvSpPr/>
          <p:nvPr/>
        </p:nvSpPr>
        <p:spPr>
          <a:xfrm>
            <a:off x="1353312" y="2084832"/>
            <a:ext cx="449884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Chosen on physical grounds: it spans the engine’s real argon CCP operating range with headroom, and sits inside the source’s stated validity band.</a:t>
            </a:r>
            <a:endParaRPr lang="en-US" sz="1250" dirty="0"/>
          </a:p>
        </p:txBody>
      </p:sp>
      <p:sp>
        <p:nvSpPr>
          <p:cNvPr id="8" name="Shape 6"/>
          <p:cNvSpPr/>
          <p:nvPr/>
        </p:nvSpPr>
        <p:spPr>
          <a:xfrm>
            <a:off x="822960" y="2898648"/>
            <a:ext cx="384048" cy="384048"/>
          </a:xfrm>
          <a:prstGeom prst="ellipse">
            <a:avLst/>
          </a:prstGeom>
          <a:solidFill>
            <a:srgbClr val="065A82"/>
          </a:solidFill>
          <a:ln/>
        </p:spPr>
      </p:sp>
      <p:sp>
        <p:nvSpPr>
          <p:cNvPr id="9" name="Text 7"/>
          <p:cNvSpPr/>
          <p:nvPr/>
        </p:nvSpPr>
        <p:spPr>
          <a:xfrm>
            <a:off x="822960"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353312" y="2880360"/>
            <a:ext cx="449884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Fitted once, in log space</a:t>
            </a:r>
            <a:endParaRPr lang="en-US" sz="1500" dirty="0"/>
          </a:p>
        </p:txBody>
      </p:sp>
      <p:sp>
        <p:nvSpPr>
          <p:cNvPr id="11" name="Text 9"/>
          <p:cNvSpPr/>
          <p:nvPr/>
        </p:nvSpPr>
        <p:spPr>
          <a:xfrm>
            <a:off x="1353312" y="3182112"/>
            <a:ext cx="449884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Kᵢₓ spans ~5 orders of magnitude across the window; a linear fit would be dominated by the high-Tₑ end and misfit the low-Tₑ tail where the particle balance operates.</a:t>
            </a:r>
            <a:endParaRPr lang="en-US" sz="1250" dirty="0"/>
          </a:p>
        </p:txBody>
      </p:sp>
      <p:sp>
        <p:nvSpPr>
          <p:cNvPr id="12" name="Shape 10"/>
          <p:cNvSpPr/>
          <p:nvPr/>
        </p:nvSpPr>
        <p:spPr>
          <a:xfrm>
            <a:off x="6309360" y="1801368"/>
            <a:ext cx="384048" cy="384048"/>
          </a:xfrm>
          <a:prstGeom prst="ellipse">
            <a:avLst/>
          </a:prstGeom>
          <a:solidFill>
            <a:srgbClr val="065A82"/>
          </a:solidFill>
          <a:ln/>
        </p:spPr>
      </p:sp>
      <p:sp>
        <p:nvSpPr>
          <p:cNvPr id="13" name="Text 11"/>
          <p:cNvSpPr/>
          <p:nvPr/>
        </p:nvSpPr>
        <p:spPr>
          <a:xfrm>
            <a:off x="6309360" y="1801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6839712" y="1783080"/>
            <a:ext cx="449884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No post-hoc tuning, under any circumstances</a:t>
            </a:r>
            <a:endParaRPr lang="en-US" sz="1500" dirty="0"/>
          </a:p>
        </p:txBody>
      </p:sp>
      <p:sp>
        <p:nvSpPr>
          <p:cNvPr id="15" name="Text 13"/>
          <p:cNvSpPr/>
          <p:nvPr/>
        </p:nvSpPr>
        <p:spPr>
          <a:xfrm>
            <a:off x="6839712" y="2084832"/>
            <a:ext cx="449884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Adjusting constants after seeing pass/fail would fit the model to the very test meant to validate it — the exact circularity the design rules forbid.</a:t>
            </a:r>
            <a:endParaRPr lang="en-US" sz="1250" dirty="0"/>
          </a:p>
        </p:txBody>
      </p:sp>
      <p:sp>
        <p:nvSpPr>
          <p:cNvPr id="16" name="Shape 14"/>
          <p:cNvSpPr/>
          <p:nvPr/>
        </p:nvSpPr>
        <p:spPr>
          <a:xfrm>
            <a:off x="6309360" y="2898648"/>
            <a:ext cx="384048" cy="384048"/>
          </a:xfrm>
          <a:prstGeom prst="ellipse">
            <a:avLst/>
          </a:prstGeom>
          <a:solidFill>
            <a:srgbClr val="065A82"/>
          </a:solidFill>
          <a:ln/>
        </p:spPr>
      </p:sp>
      <p:sp>
        <p:nvSpPr>
          <p:cNvPr id="17" name="Text 15"/>
          <p:cNvSpPr/>
          <p:nvPr/>
        </p:nvSpPr>
        <p:spPr>
          <a:xfrm>
            <a:off x="6309360"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6839712" y="2880360"/>
            <a:ext cx="449884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Benchmark and tests left untouched</a:t>
            </a:r>
            <a:endParaRPr lang="en-US" sz="1500" dirty="0"/>
          </a:p>
        </p:txBody>
      </p:sp>
      <p:sp>
        <p:nvSpPr>
          <p:cNvPr id="19" name="Text 17"/>
          <p:cNvSpPr/>
          <p:nvPr/>
        </p:nvSpPr>
        <p:spPr>
          <a:xfrm>
            <a:off x="6839712" y="3182112"/>
            <a:ext cx="449884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Tolerances, reference values and every test assertion were off-limits, so the comparison stayed honest.</a:t>
            </a:r>
            <a:endParaRPr lang="en-US" sz="1250" dirty="0"/>
          </a:p>
        </p:txBody>
      </p:sp>
      <p:sp>
        <p:nvSpPr>
          <p:cNvPr id="20" name="Shape 18"/>
          <p:cNvSpPr/>
          <p:nvPr/>
        </p:nvSpPr>
        <p:spPr>
          <a:xfrm>
            <a:off x="822960" y="4114800"/>
            <a:ext cx="10515600" cy="868680"/>
          </a:xfrm>
          <a:prstGeom prst="roundRect">
            <a:avLst>
              <a:gd name="adj" fmla="val 7368"/>
            </a:avLst>
          </a:prstGeom>
          <a:solidFill>
            <a:srgbClr val="F2F7FA"/>
          </a:solidFill>
          <a:ln/>
          <a:effectLst>
            <a:outerShdw sx="100000" sy="100000" kx="0" ky="0" algn="bl" rotWithShape="0" blurRad="88900" dist="25400" dir="5400000">
              <a:srgbClr val="9AA8B2">
                <a:alpha val="22000"/>
              </a:srgbClr>
            </a:outerShdw>
          </a:effectLst>
        </p:spPr>
      </p:sp>
      <p:sp>
        <p:nvSpPr>
          <p:cNvPr id="21" name="Shape 19"/>
          <p:cNvSpPr/>
          <p:nvPr/>
        </p:nvSpPr>
        <p:spPr>
          <a:xfrm>
            <a:off x="1024128" y="4393692"/>
            <a:ext cx="310896" cy="310896"/>
          </a:xfrm>
          <a:prstGeom prst="ellipse">
            <a:avLst/>
          </a:prstGeom>
          <a:solidFill>
            <a:srgbClr val="1C7293"/>
          </a:solidFill>
          <a:ln/>
        </p:spPr>
      </p:sp>
      <p:sp>
        <p:nvSpPr>
          <p:cNvPr id="22" name="Text 20"/>
          <p:cNvSpPr/>
          <p:nvPr/>
        </p:nvSpPr>
        <p:spPr>
          <a:xfrm>
            <a:off x="1024128" y="439369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p:nvPr/>
        </p:nvSpPr>
        <p:spPr>
          <a:xfrm>
            <a:off x="1463040" y="4224528"/>
            <a:ext cx="9646920" cy="649224"/>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Isolation:  </a:t>
            </a:r>
            <a:pPr indent="0" marL="0">
              <a:buNone/>
            </a:pPr>
            <a:r>
              <a:rPr lang="en-US" sz="1300" dirty="0">
                <a:solidFill>
                  <a:srgbClr val="1A1A1A"/>
                </a:solidFill>
                <a:latin typeface="Calibri" pitchFamily="34" charset="0"/>
                <a:ea typeface="Calibri" pitchFamily="34" charset="-122"/>
                <a:cs typeface="Calibri" pitchFamily="34" charset="-120"/>
              </a:rPr>
              <a:t>the work was done in a separate Git worktree, so the main line of the project never contained the experimental change — making “revert if it does not help” genuinely costless.</a:t>
            </a:r>
            <a:endParaRPr lang="en-US" sz="1400" dirty="0"/>
          </a:p>
        </p:txBody>
      </p:sp>
      <p:sp>
        <p:nvSpPr>
          <p:cNvPr id="24" name="Text 22"/>
          <p:cNvSpPr/>
          <p:nvPr/>
        </p:nvSpPr>
        <p:spPr>
          <a:xfrm>
            <a:off x="822960" y="5166360"/>
            <a:ext cx="10515600" cy="457200"/>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This is the part that makes the exercise defensible. A better-looking score obtained by tuning would have been worthless.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The fit itself was excellent</a:t>
            </a:r>
            <a:endParaRPr lang="en-US" sz="3000" dirty="0"/>
          </a:p>
        </p:txBody>
      </p:sp>
      <p:sp>
        <p:nvSpPr>
          <p:cNvPr id="3" name="Text 1"/>
          <p:cNvSpPr/>
          <p:nvPr/>
        </p:nvSpPr>
        <p:spPr>
          <a:xfrm>
            <a:off x="566928" y="1133856"/>
            <a:ext cx="11064240" cy="310896"/>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The refitted curve is indistinguishable from its source across the whole fit window.</a:t>
            </a:r>
            <a:endParaRPr lang="en-US" sz="1350" dirty="0"/>
          </a:p>
        </p:txBody>
      </p:sp>
      <p:sp>
        <p:nvSpPr>
          <p:cNvPr id="4" name="Shape 2"/>
          <p:cNvSpPr/>
          <p:nvPr/>
        </p:nvSpPr>
        <p:spPr>
          <a:xfrm>
            <a:off x="822960" y="1691640"/>
            <a:ext cx="2377440" cy="1097280"/>
          </a:xfrm>
          <a:prstGeom prst="roundRect">
            <a:avLst>
              <a:gd name="adj" fmla="val 6667"/>
            </a:avLst>
          </a:prstGeom>
          <a:solidFill>
            <a:srgbClr val="F2F7FA"/>
          </a:solidFill>
          <a:ln/>
          <a:effectLst>
            <a:outerShdw sx="100000" sy="100000" kx="0" ky="0" algn="bl" rotWithShape="0" blurRad="101600" dist="25400" dir="5400000">
              <a:srgbClr val="9AA8B2">
                <a:alpha val="28000"/>
              </a:srgbClr>
            </a:outerShdw>
          </a:effectLst>
        </p:spPr>
      </p:sp>
      <p:sp>
        <p:nvSpPr>
          <p:cNvPr id="5" name="Text 3"/>
          <p:cNvSpPr/>
          <p:nvPr/>
        </p:nvSpPr>
        <p:spPr>
          <a:xfrm>
            <a:off x="914400" y="1837944"/>
            <a:ext cx="2194560" cy="570586"/>
          </a:xfrm>
          <a:prstGeom prst="rect">
            <a:avLst/>
          </a:prstGeom>
          <a:noFill/>
          <a:ln/>
        </p:spPr>
        <p:txBody>
          <a:bodyPr wrap="square" lIns="0" tIns="0" rIns="0" bIns="0" rtlCol="0" anchor="ctr"/>
          <a:lstStyle/>
          <a:p>
            <a:pPr algn="ctr" indent="0" marL="0">
              <a:buNone/>
            </a:pPr>
            <a:r>
              <a:rPr lang="en-US" sz="2600" b="1" dirty="0">
                <a:solidFill>
                  <a:srgbClr val="065A82"/>
                </a:solidFill>
                <a:latin typeface="Cambria" pitchFamily="34" charset="0"/>
                <a:ea typeface="Cambria" pitchFamily="34" charset="-122"/>
                <a:cs typeface="Cambria" pitchFamily="34" charset="-120"/>
              </a:rPr>
              <a:t>0.148%</a:t>
            </a:r>
            <a:endParaRPr lang="en-US" sz="2600" dirty="0"/>
          </a:p>
        </p:txBody>
      </p:sp>
      <p:sp>
        <p:nvSpPr>
          <p:cNvPr id="6" name="Text 4"/>
          <p:cNvSpPr/>
          <p:nvPr/>
        </p:nvSpPr>
        <p:spPr>
          <a:xfrm>
            <a:off x="950976" y="2371954"/>
            <a:ext cx="2121408" cy="351130"/>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max relative error vs source</a:t>
            </a:r>
            <a:endParaRPr lang="en-US" sz="1150" dirty="0"/>
          </a:p>
        </p:txBody>
      </p:sp>
      <p:sp>
        <p:nvSpPr>
          <p:cNvPr id="7" name="Shape 5"/>
          <p:cNvSpPr/>
          <p:nvPr/>
        </p:nvSpPr>
        <p:spPr>
          <a:xfrm>
            <a:off x="3429000" y="1691640"/>
            <a:ext cx="2377440" cy="1097280"/>
          </a:xfrm>
          <a:prstGeom prst="roundRect">
            <a:avLst>
              <a:gd name="adj" fmla="val 6667"/>
            </a:avLst>
          </a:prstGeom>
          <a:solidFill>
            <a:srgbClr val="F2F7FA"/>
          </a:solidFill>
          <a:ln/>
          <a:effectLst>
            <a:outerShdw sx="100000" sy="100000" kx="0" ky="0" algn="bl" rotWithShape="0" blurRad="101600" dist="25400" dir="5400000">
              <a:srgbClr val="9AA8B2">
                <a:alpha val="28000"/>
              </a:srgbClr>
            </a:outerShdw>
          </a:effectLst>
        </p:spPr>
      </p:sp>
      <p:sp>
        <p:nvSpPr>
          <p:cNvPr id="8" name="Text 6"/>
          <p:cNvSpPr/>
          <p:nvPr/>
        </p:nvSpPr>
        <p:spPr>
          <a:xfrm>
            <a:off x="3520440" y="1837944"/>
            <a:ext cx="2194560" cy="570586"/>
          </a:xfrm>
          <a:prstGeom prst="rect">
            <a:avLst/>
          </a:prstGeom>
          <a:noFill/>
          <a:ln/>
        </p:spPr>
        <p:txBody>
          <a:bodyPr wrap="square" lIns="0" tIns="0" rIns="0" bIns="0" rtlCol="0" anchor="ctr"/>
          <a:lstStyle/>
          <a:p>
            <a:pPr algn="ctr" indent="0" marL="0">
              <a:buNone/>
            </a:pPr>
            <a:r>
              <a:rPr lang="en-US" sz="2000" b="1" dirty="0">
                <a:solidFill>
                  <a:srgbClr val="065A82"/>
                </a:solidFill>
                <a:latin typeface="Cambria" pitchFamily="34" charset="0"/>
                <a:ea typeface="Cambria" pitchFamily="34" charset="-122"/>
                <a:cs typeface="Cambria" pitchFamily="34" charset="-120"/>
              </a:rPr>
              <a:t>0.9999 9999</a:t>
            </a:r>
            <a:endParaRPr lang="en-US" sz="2000" dirty="0"/>
          </a:p>
        </p:txBody>
      </p:sp>
      <p:sp>
        <p:nvSpPr>
          <p:cNvPr id="9" name="Text 7"/>
          <p:cNvSpPr/>
          <p:nvPr/>
        </p:nvSpPr>
        <p:spPr>
          <a:xfrm>
            <a:off x="3557016" y="2371954"/>
            <a:ext cx="2121408" cy="351130"/>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R² in the fitted log space</a:t>
            </a:r>
            <a:endParaRPr lang="en-US" sz="1150" dirty="0"/>
          </a:p>
        </p:txBody>
      </p:sp>
      <p:sp>
        <p:nvSpPr>
          <p:cNvPr id="10" name="Shape 8"/>
          <p:cNvSpPr/>
          <p:nvPr/>
        </p:nvSpPr>
        <p:spPr>
          <a:xfrm>
            <a:off x="6035040" y="1691640"/>
            <a:ext cx="2377440" cy="1097280"/>
          </a:xfrm>
          <a:prstGeom prst="roundRect">
            <a:avLst>
              <a:gd name="adj" fmla="val 6667"/>
            </a:avLst>
          </a:prstGeom>
          <a:solidFill>
            <a:srgbClr val="F0F7F0"/>
          </a:solidFill>
          <a:ln/>
          <a:effectLst>
            <a:outerShdw sx="100000" sy="100000" kx="0" ky="0" algn="bl" rotWithShape="0" blurRad="101600" dist="25400" dir="5400000">
              <a:srgbClr val="9AA8B2">
                <a:alpha val="28000"/>
              </a:srgbClr>
            </a:outerShdw>
          </a:effectLst>
        </p:spPr>
      </p:sp>
      <p:sp>
        <p:nvSpPr>
          <p:cNvPr id="11" name="Text 9"/>
          <p:cNvSpPr/>
          <p:nvPr/>
        </p:nvSpPr>
        <p:spPr>
          <a:xfrm>
            <a:off x="6126480" y="1837944"/>
            <a:ext cx="2194560" cy="570586"/>
          </a:xfrm>
          <a:prstGeom prst="rect">
            <a:avLst/>
          </a:prstGeom>
          <a:noFill/>
          <a:ln/>
        </p:spPr>
        <p:txBody>
          <a:bodyPr wrap="square" lIns="0" tIns="0" rIns="0" bIns="0" rtlCol="0" anchor="ctr"/>
          <a:lstStyle/>
          <a:p>
            <a:pPr algn="ctr" indent="0" marL="0">
              <a:buNone/>
            </a:pPr>
            <a:r>
              <a:rPr lang="en-US" sz="2600" b="1" dirty="0">
                <a:solidFill>
                  <a:srgbClr val="0A7A0A"/>
                </a:solidFill>
                <a:latin typeface="Cambria" pitchFamily="34" charset="0"/>
                <a:ea typeface="Cambria" pitchFamily="34" charset="-122"/>
                <a:cs typeface="Cambria" pitchFamily="34" charset="-120"/>
              </a:rPr>
              <a:t>15.7288</a:t>
            </a:r>
            <a:endParaRPr lang="en-US" sz="2600" dirty="0"/>
          </a:p>
        </p:txBody>
      </p:sp>
      <p:sp>
        <p:nvSpPr>
          <p:cNvPr id="12" name="Text 10"/>
          <p:cNvSpPr/>
          <p:nvPr/>
        </p:nvSpPr>
        <p:spPr>
          <a:xfrm>
            <a:off x="6163056" y="2371954"/>
            <a:ext cx="2121408" cy="351130"/>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fitted threshold (V)</a:t>
            </a:r>
            <a:endParaRPr lang="en-US" sz="1150" dirty="0"/>
          </a:p>
        </p:txBody>
      </p:sp>
      <p:sp>
        <p:nvSpPr>
          <p:cNvPr id="13" name="Shape 11"/>
          <p:cNvSpPr/>
          <p:nvPr/>
        </p:nvSpPr>
        <p:spPr>
          <a:xfrm>
            <a:off x="8641080" y="1691640"/>
            <a:ext cx="2697480" cy="1097280"/>
          </a:xfrm>
          <a:prstGeom prst="roundRect">
            <a:avLst>
              <a:gd name="adj" fmla="val 6667"/>
            </a:avLst>
          </a:prstGeom>
          <a:solidFill>
            <a:srgbClr val="F0F7F0"/>
          </a:solidFill>
          <a:ln/>
          <a:effectLst>
            <a:outerShdw sx="100000" sy="100000" kx="0" ky="0" algn="bl" rotWithShape="0" blurRad="101600" dist="25400" dir="5400000">
              <a:srgbClr val="9AA8B2">
                <a:alpha val="28000"/>
              </a:srgbClr>
            </a:outerShdw>
          </a:effectLst>
        </p:spPr>
      </p:sp>
      <p:sp>
        <p:nvSpPr>
          <p:cNvPr id="14" name="Text 12"/>
          <p:cNvSpPr/>
          <p:nvPr/>
        </p:nvSpPr>
        <p:spPr>
          <a:xfrm>
            <a:off x="8732520" y="1837944"/>
            <a:ext cx="2514600" cy="570586"/>
          </a:xfrm>
          <a:prstGeom prst="rect">
            <a:avLst/>
          </a:prstGeom>
          <a:noFill/>
          <a:ln/>
        </p:spPr>
        <p:txBody>
          <a:bodyPr wrap="square" lIns="0" tIns="0" rIns="0" bIns="0" rtlCol="0" anchor="ctr"/>
          <a:lstStyle/>
          <a:p>
            <a:pPr algn="ctr" indent="0" marL="0">
              <a:buNone/>
            </a:pPr>
            <a:r>
              <a:rPr lang="en-US" sz="2600" b="1" dirty="0">
                <a:solidFill>
                  <a:srgbClr val="0A7A0A"/>
                </a:solidFill>
                <a:latin typeface="Cambria" pitchFamily="34" charset="0"/>
                <a:ea typeface="Cambria" pitchFamily="34" charset="-122"/>
                <a:cs typeface="Cambria" pitchFamily="34" charset="-120"/>
              </a:rPr>
              <a:t>0.2%</a:t>
            </a:r>
            <a:endParaRPr lang="en-US" sz="2600" dirty="0"/>
          </a:p>
        </p:txBody>
      </p:sp>
      <p:sp>
        <p:nvSpPr>
          <p:cNvPr id="15" name="Text 13"/>
          <p:cNvSpPr/>
          <p:nvPr/>
        </p:nvSpPr>
        <p:spPr>
          <a:xfrm>
            <a:off x="8769096" y="2371954"/>
            <a:ext cx="2441448" cy="351130"/>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from argon’s true 15.76 V — not imposed</a:t>
            </a:r>
            <a:endParaRPr lang="en-US" sz="1150" dirty="0"/>
          </a:p>
        </p:txBody>
      </p:sp>
      <p:pic>
        <p:nvPicPr>
          <p:cNvPr id="16" name="Image 0" descr="C:\Users\Rayyan Taimoor\Desktop\cs 6\fyp\final\plasma-digital-twin\error_fixing_attempts\figures\fig1_kiz_curves.png">    </p:cNvPr>
          <p:cNvPicPr>
            <a:picLocks noChangeAspect="1"/>
          </p:cNvPicPr>
          <p:nvPr/>
        </p:nvPicPr>
        <p:blipFill>
          <a:blip r:embed="rId1"/>
          <a:stretch>
            <a:fillRect/>
          </a:stretch>
        </p:blipFill>
        <p:spPr>
          <a:xfrm>
            <a:off x="3429000" y="2926080"/>
            <a:ext cx="5330952" cy="3108960"/>
          </a:xfrm>
          <a:prstGeom prst="rect">
            <a:avLst/>
          </a:prstGeom>
        </p:spPr>
      </p:pic>
      <p:sp>
        <p:nvSpPr>
          <p:cNvPr id="17" name="Text 14"/>
          <p:cNvSpPr/>
          <p:nvPr/>
        </p:nvSpPr>
        <p:spPr>
          <a:xfrm>
            <a:off x="822960" y="6108192"/>
            <a:ext cx="10515600" cy="310896"/>
          </a:xfrm>
          <a:prstGeom prst="rect">
            <a:avLst/>
          </a:prstGeom>
          <a:noFill/>
          <a:ln/>
        </p:spPr>
        <p:txBody>
          <a:bodyPr wrap="square" lIns="0" tIns="0" rIns="0" bIns="0" rtlCol="0" anchor="ctr"/>
          <a:lstStyle/>
          <a:p>
            <a:pPr algn="ctr" indent="0" marL="0">
              <a:buNone/>
            </a:pPr>
            <a:r>
              <a:rPr lang="en-US" sz="1100" i="1" dirty="0">
                <a:solidFill>
                  <a:srgbClr val="5A6570"/>
                </a:solidFill>
                <a:latin typeface="Calibri" pitchFamily="34" charset="0"/>
                <a:ea typeface="Calibri" pitchFamily="34" charset="-122"/>
                <a:cs typeface="Calibri" pitchFamily="34" charset="-120"/>
              </a:rPr>
              <a:t>The refitted curve overlies the Voronov reference; the engine’s current fit sits well below it.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Fidelity to the cited source, quantified</a:t>
            </a:r>
            <a:endParaRPr lang="en-US" sz="3000" dirty="0"/>
          </a:p>
        </p:txBody>
      </p:sp>
      <p:sp>
        <p:nvSpPr>
          <p:cNvPr id="3" name="Text 1"/>
          <p:cNvSpPr/>
          <p:nvPr/>
        </p:nvSpPr>
        <p:spPr>
          <a:xfrm>
            <a:off x="566928" y="1133856"/>
            <a:ext cx="11064240" cy="310896"/>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The old constants were not merely unattributed — they were far from the source they vaguely claimed.</a:t>
            </a:r>
            <a:endParaRPr lang="en-US" sz="1350" dirty="0"/>
          </a:p>
        </p:txBody>
      </p:sp>
      <p:pic>
        <p:nvPicPr>
          <p:cNvPr id="4" name="Image 0" descr="C:\Users\Rayyan Taimoor\Desktop\cs 6\fyp\final\plasma-digital-twin\error_fixing_attempts\figures\fig2_fit_fidelity.png">    </p:cNvPr>
          <p:cNvPicPr>
            <a:picLocks noChangeAspect="1"/>
          </p:cNvPicPr>
          <p:nvPr/>
        </p:nvPicPr>
        <p:blipFill>
          <a:blip r:embed="rId1"/>
          <a:stretch>
            <a:fillRect/>
          </a:stretch>
        </p:blipFill>
        <p:spPr>
          <a:xfrm>
            <a:off x="731520" y="1645920"/>
            <a:ext cx="6949440" cy="3666744"/>
          </a:xfrm>
          <a:prstGeom prst="rect">
            <a:avLst/>
          </a:prstGeom>
        </p:spPr>
      </p:pic>
      <p:sp>
        <p:nvSpPr>
          <p:cNvPr id="5" name="Text 2"/>
          <p:cNvSpPr/>
          <p:nvPr/>
        </p:nvSpPr>
        <p:spPr>
          <a:xfrm>
            <a:off x="7909560" y="1691640"/>
            <a:ext cx="342900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Reading the chart</a:t>
            </a:r>
            <a:endParaRPr lang="en-US" sz="1500" dirty="0"/>
          </a:p>
        </p:txBody>
      </p:sp>
      <p:sp>
        <p:nvSpPr>
          <p:cNvPr id="6" name="Text 3"/>
          <p:cNvSpPr/>
          <p:nvPr/>
        </p:nvSpPr>
        <p:spPr>
          <a:xfrm>
            <a:off x="7909560" y="2084832"/>
            <a:ext cx="3429000" cy="192024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Refitted fit: flat on zero — within ±0.15% everywhere.</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Current fit: −88% at 1 eV, −54% at 3 eV, −13% at 10 eV.</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The discrepancy is worst exactly where the discharge operates.</a:t>
            </a:r>
            <a:endParaRPr lang="en-US" sz="1300" dirty="0"/>
          </a:p>
        </p:txBody>
      </p:sp>
      <p:sp>
        <p:nvSpPr>
          <p:cNvPr id="7" name="Shape 4"/>
          <p:cNvSpPr/>
          <p:nvPr/>
        </p:nvSpPr>
        <p:spPr>
          <a:xfrm>
            <a:off x="7909560" y="4160520"/>
            <a:ext cx="3429000" cy="1463040"/>
          </a:xfrm>
          <a:prstGeom prst="roundRect">
            <a:avLst>
              <a:gd name="adj" fmla="val 4375"/>
            </a:avLst>
          </a:prstGeom>
          <a:solidFill>
            <a:srgbClr val="F2F7FA"/>
          </a:solidFill>
          <a:ln/>
          <a:effectLst>
            <a:outerShdw sx="100000" sy="100000" kx="0" ky="0" algn="bl" rotWithShape="0" blurRad="88900" dist="25400" dir="5400000">
              <a:srgbClr val="9AA8B2">
                <a:alpha val="22000"/>
              </a:srgbClr>
            </a:outerShdw>
          </a:effectLst>
        </p:spPr>
      </p:sp>
      <p:sp>
        <p:nvSpPr>
          <p:cNvPr id="8" name="Shape 5"/>
          <p:cNvSpPr/>
          <p:nvPr/>
        </p:nvSpPr>
        <p:spPr>
          <a:xfrm>
            <a:off x="8110728" y="4736592"/>
            <a:ext cx="310896" cy="310896"/>
          </a:xfrm>
          <a:prstGeom prst="ellipse">
            <a:avLst/>
          </a:prstGeom>
          <a:solidFill>
            <a:srgbClr val="1C7293"/>
          </a:solidFill>
          <a:ln/>
        </p:spPr>
      </p:sp>
      <p:sp>
        <p:nvSpPr>
          <p:cNvPr id="9" name="Text 6"/>
          <p:cNvSpPr/>
          <p:nvPr/>
        </p:nvSpPr>
        <p:spPr>
          <a:xfrm>
            <a:off x="8110728" y="473659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7"/>
          <p:cNvSpPr/>
          <p:nvPr/>
        </p:nvSpPr>
        <p:spPr>
          <a:xfrm>
            <a:off x="8549640" y="4270248"/>
            <a:ext cx="2560320" cy="1243584"/>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So far, so good.  </a:t>
            </a:r>
            <a:pPr indent="0" marL="0">
              <a:buNone/>
            </a:pPr>
            <a:r>
              <a:rPr lang="en-US" sz="1300" dirty="0">
                <a:solidFill>
                  <a:srgbClr val="1A1A1A"/>
                </a:solidFill>
                <a:latin typeface="Calibri" pitchFamily="34" charset="0"/>
                <a:ea typeface="Calibri" pitchFamily="34" charset="-122"/>
                <a:cs typeface="Calibri" pitchFamily="34" charset="-120"/>
              </a:rPr>
              <a:t>On provenance alone, the refit was a clear improvement. The problem appears only downstream.</a:t>
            </a:r>
            <a:endParaRPr lang="en-US" sz="1400" dirty="0"/>
          </a:p>
        </p:txBody>
      </p:sp>
      <p:sp>
        <p:nvSpPr>
          <p:cNvPr id="11" name="Text 8"/>
          <p:cNvSpPr/>
          <p:nvPr/>
        </p:nvSpPr>
        <p:spPr>
          <a:xfrm>
            <a:off x="822960" y="5440680"/>
            <a:ext cx="10515600" cy="310896"/>
          </a:xfrm>
          <a:prstGeom prst="rect">
            <a:avLst/>
          </a:prstGeom>
          <a:noFill/>
          <a:ln/>
        </p:spPr>
        <p:txBody>
          <a:bodyPr wrap="square" lIns="0" tIns="0" rIns="0" bIns="0" rtlCol="0" anchor="ctr"/>
          <a:lstStyle/>
          <a:p>
            <a:pPr algn="ctr" indent="0" marL="0">
              <a:buNone/>
            </a:pPr>
            <a:r>
              <a:rPr lang="en-US" sz="1100" i="1" dirty="0">
                <a:solidFill>
                  <a:srgbClr val="5A6570"/>
                </a:solidFill>
                <a:latin typeface="Calibri" pitchFamily="34" charset="0"/>
                <a:ea typeface="Calibri" pitchFamily="34" charset="-122"/>
                <a:cs typeface="Calibri" pitchFamily="34" charset="-120"/>
              </a:rPr>
              <a:t>Relative deviation of each candidate fit from the Voronov reference across the fit window.</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2900" b="1" dirty="0">
                <a:solidFill>
                  <a:srgbClr val="065A82"/>
                </a:solidFill>
                <a:latin typeface="Cambria" pitchFamily="34" charset="0"/>
                <a:ea typeface="Cambria" pitchFamily="34" charset="-122"/>
                <a:cs typeface="Cambria" pitchFamily="34" charset="-120"/>
              </a:rPr>
              <a:t>But the validation benchmark got worse</a:t>
            </a:r>
            <a:endParaRPr lang="en-US" sz="2900" dirty="0"/>
          </a:p>
        </p:txBody>
      </p:sp>
      <p:pic>
        <p:nvPicPr>
          <p:cNvPr id="3" name="Image 0" descr="C:\Users\Rayyan Taimoor\Desktop\cs 6\fyp\final\plasma-digital-twin\error_fixing_attempts\figures\fig6_benchmark_before_after.png">    </p:cNvPr>
          <p:cNvPicPr>
            <a:picLocks noChangeAspect="1"/>
          </p:cNvPicPr>
          <p:nvPr/>
        </p:nvPicPr>
        <p:blipFill>
          <a:blip r:embed="rId1"/>
          <a:stretch>
            <a:fillRect/>
          </a:stretch>
        </p:blipFill>
        <p:spPr>
          <a:xfrm>
            <a:off x="502920" y="1371600"/>
            <a:ext cx="7452360" cy="4617720"/>
          </a:xfrm>
          <a:prstGeom prst="rect">
            <a:avLst/>
          </a:prstGeom>
        </p:spPr>
      </p:pic>
      <p:sp>
        <p:nvSpPr>
          <p:cNvPr id="4" name="Shape 1"/>
          <p:cNvSpPr/>
          <p:nvPr/>
        </p:nvSpPr>
        <p:spPr>
          <a:xfrm>
            <a:off x="8229600" y="1463040"/>
            <a:ext cx="3108960" cy="1371600"/>
          </a:xfrm>
          <a:prstGeom prst="roundRect">
            <a:avLst>
              <a:gd name="adj" fmla="val 5333"/>
            </a:avLst>
          </a:prstGeom>
          <a:solidFill>
            <a:srgbClr val="FBF1F1"/>
          </a:solidFill>
          <a:ln/>
          <a:effectLst>
            <a:outerShdw sx="100000" sy="100000" kx="0" ky="0" algn="bl" rotWithShape="0" blurRad="101600" dist="25400" dir="5400000">
              <a:srgbClr val="9AA8B2">
                <a:alpha val="28000"/>
              </a:srgbClr>
            </a:outerShdw>
          </a:effectLst>
        </p:spPr>
      </p:sp>
      <p:sp>
        <p:nvSpPr>
          <p:cNvPr id="5" name="Text 2"/>
          <p:cNvSpPr/>
          <p:nvPr/>
        </p:nvSpPr>
        <p:spPr>
          <a:xfrm>
            <a:off x="8321040" y="1609344"/>
            <a:ext cx="2926080" cy="713232"/>
          </a:xfrm>
          <a:prstGeom prst="rect">
            <a:avLst/>
          </a:prstGeom>
          <a:noFill/>
          <a:ln/>
        </p:spPr>
        <p:txBody>
          <a:bodyPr wrap="square" lIns="0" tIns="0" rIns="0" bIns="0" rtlCol="0" anchor="ctr"/>
          <a:lstStyle/>
          <a:p>
            <a:pPr algn="ctr" indent="0" marL="0">
              <a:buNone/>
            </a:pPr>
            <a:r>
              <a:rPr lang="en-US" sz="3400" b="1" dirty="0">
                <a:solidFill>
                  <a:srgbClr val="B03030"/>
                </a:solidFill>
                <a:latin typeface="Cambria" pitchFamily="34" charset="0"/>
                <a:ea typeface="Cambria" pitchFamily="34" charset="-122"/>
                <a:cs typeface="Cambria" pitchFamily="34" charset="-120"/>
              </a:rPr>
              <a:t>6 → 4</a:t>
            </a:r>
            <a:endParaRPr lang="en-US" sz="3400" dirty="0"/>
          </a:p>
        </p:txBody>
      </p:sp>
      <p:sp>
        <p:nvSpPr>
          <p:cNvPr id="6" name="Text 3"/>
          <p:cNvSpPr/>
          <p:nvPr/>
        </p:nvSpPr>
        <p:spPr>
          <a:xfrm>
            <a:off x="8357616" y="2313432"/>
            <a:ext cx="2852928" cy="438912"/>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of 9 checks passing</a:t>
            </a:r>
            <a:endParaRPr lang="en-US" sz="1150" dirty="0"/>
          </a:p>
        </p:txBody>
      </p:sp>
      <p:sp>
        <p:nvSpPr>
          <p:cNvPr id="7" name="Text 4"/>
          <p:cNvSpPr/>
          <p:nvPr/>
        </p:nvSpPr>
        <p:spPr>
          <a:xfrm>
            <a:off x="8229600" y="3017520"/>
            <a:ext cx="3108960" cy="32004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Two checks flipped PASS → FAIL</a:t>
            </a:r>
            <a:endParaRPr lang="en-US" sz="1400" dirty="0"/>
          </a:p>
        </p:txBody>
      </p:sp>
      <p:sp>
        <p:nvSpPr>
          <p:cNvPr id="8" name="Text 5"/>
          <p:cNvSpPr/>
          <p:nvPr/>
        </p:nvSpPr>
        <p:spPr>
          <a:xfrm>
            <a:off x="8229600" y="3383280"/>
            <a:ext cx="3108960" cy="91440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Kᵢₓ vs Chabert:  −10.5% → +94.5%</a:t>
            </a:r>
            <a:endParaRPr lang="en-US" sz="1250" dirty="0"/>
          </a:p>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Density vs PIC centre:  +4.4% → +48.6%</a:t>
            </a:r>
            <a:endParaRPr lang="en-US" sz="1250" dirty="0"/>
          </a:p>
        </p:txBody>
      </p:sp>
      <p:sp>
        <p:nvSpPr>
          <p:cNvPr id="9" name="Shape 6"/>
          <p:cNvSpPr/>
          <p:nvPr/>
        </p:nvSpPr>
        <p:spPr>
          <a:xfrm>
            <a:off x="8229600" y="4434840"/>
            <a:ext cx="3108960" cy="1554480"/>
          </a:xfrm>
          <a:prstGeom prst="roundRect">
            <a:avLst>
              <a:gd name="adj" fmla="val 4118"/>
            </a:avLst>
          </a:prstGeom>
          <a:solidFill>
            <a:srgbClr val="F2F7FA"/>
          </a:solidFill>
          <a:ln/>
          <a:effectLst>
            <a:outerShdw sx="100000" sy="100000" kx="0" ky="0" algn="bl" rotWithShape="0" blurRad="88900" dist="25400" dir="5400000">
              <a:srgbClr val="9AA8B2">
                <a:alpha val="22000"/>
              </a:srgbClr>
            </a:outerShdw>
          </a:effectLst>
        </p:spPr>
      </p:sp>
      <p:sp>
        <p:nvSpPr>
          <p:cNvPr id="10" name="Shape 7"/>
          <p:cNvSpPr/>
          <p:nvPr/>
        </p:nvSpPr>
        <p:spPr>
          <a:xfrm>
            <a:off x="8430768" y="5056632"/>
            <a:ext cx="310896" cy="310896"/>
          </a:xfrm>
          <a:prstGeom prst="ellipse">
            <a:avLst/>
          </a:prstGeom>
          <a:solidFill>
            <a:srgbClr val="1C7293"/>
          </a:solidFill>
          <a:ln/>
        </p:spPr>
      </p:sp>
      <p:sp>
        <p:nvSpPr>
          <p:cNvPr id="11" name="Text 8"/>
          <p:cNvSpPr/>
          <p:nvPr/>
        </p:nvSpPr>
        <p:spPr>
          <a:xfrm>
            <a:off x="8430768" y="505663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9"/>
          <p:cNvSpPr/>
          <p:nvPr/>
        </p:nvSpPr>
        <p:spPr>
          <a:xfrm>
            <a:off x="8869680" y="4544568"/>
            <a:ext cx="2240280" cy="1335024"/>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Not yet conclusive.  </a:t>
            </a:r>
            <a:pPr indent="0" marL="0">
              <a:buNone/>
            </a:pPr>
            <a:r>
              <a:rPr lang="en-US" sz="1300" dirty="0">
                <a:solidFill>
                  <a:srgbClr val="1A1A1A"/>
                </a:solidFill>
                <a:latin typeface="Calibri" pitchFamily="34" charset="0"/>
                <a:ea typeface="Calibri" pitchFamily="34" charset="-122"/>
                <a:cs typeface="Calibri" pitchFamily="34" charset="-120"/>
              </a:rPr>
              <a:t>This benchmark is semi-quantitative and its anchors mutually disagree — so this alone did not settle the decision.</a:t>
            </a:r>
            <a:endParaRPr lang="en-US" sz="1400" dirty="0"/>
          </a:p>
        </p:txBody>
      </p:sp>
      <p:sp>
        <p:nvSpPr>
          <p:cNvPr id="13" name="Text 10"/>
          <p:cNvSpPr/>
          <p:nvPr/>
        </p:nvSpPr>
        <p:spPr>
          <a:xfrm>
            <a:off x="822960" y="6035040"/>
            <a:ext cx="10515600" cy="310896"/>
          </a:xfrm>
          <a:prstGeom prst="rect">
            <a:avLst/>
          </a:prstGeom>
          <a:noFill/>
          <a:ln/>
        </p:spPr>
        <p:txBody>
          <a:bodyPr wrap="square" lIns="0" tIns="0" rIns="0" bIns="0" rtlCol="0" anchor="ctr"/>
          <a:lstStyle/>
          <a:p>
            <a:pPr algn="ctr" indent="0" marL="0">
              <a:buNone/>
            </a:pPr>
            <a:r>
              <a:rPr lang="en-US" sz="1100" i="1" dirty="0">
                <a:solidFill>
                  <a:srgbClr val="5A6570"/>
                </a:solidFill>
                <a:latin typeface="Calibri" pitchFamily="34" charset="0"/>
                <a:ea typeface="Calibri" pitchFamily="34" charset="-122"/>
                <a:cs typeface="Calibri" pitchFamily="34" charset="-120"/>
              </a:rPr>
              <a:t>Solid bars = retained fit · hatched = rejected refit · grey band = each check’s tolerance.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2900" b="1" dirty="0">
                <a:solidFill>
                  <a:srgbClr val="065A82"/>
                </a:solidFill>
                <a:latin typeface="Cambria" pitchFamily="34" charset="0"/>
                <a:ea typeface="Cambria" pitchFamily="34" charset="-122"/>
                <a:cs typeface="Cambria" pitchFamily="34" charset="-120"/>
              </a:rPr>
              <a:t>The deciding evidence: an independent check broke</a:t>
            </a:r>
            <a:endParaRPr lang="en-US" sz="2900" dirty="0"/>
          </a:p>
        </p:txBody>
      </p:sp>
      <p:pic>
        <p:nvPicPr>
          <p:cNvPr id="3" name="Image 0" descr="C:\Users\Rayyan Taimoor\Desktop\cs 6\fyp\final\plasma-digital-twin\error_fixing_attempts\figures\fig4_energy_loss_band.png">    </p:cNvPr>
          <p:cNvPicPr>
            <a:picLocks noChangeAspect="1"/>
          </p:cNvPicPr>
          <p:nvPr/>
        </p:nvPicPr>
        <p:blipFill>
          <a:blip r:embed="rId1"/>
          <a:stretch>
            <a:fillRect/>
          </a:stretch>
        </p:blipFill>
        <p:spPr>
          <a:xfrm>
            <a:off x="594360" y="1325880"/>
            <a:ext cx="7040880" cy="4206240"/>
          </a:xfrm>
          <a:prstGeom prst="rect">
            <a:avLst/>
          </a:prstGeom>
        </p:spPr>
      </p:pic>
      <p:sp>
        <p:nvSpPr>
          <p:cNvPr id="4" name="Shape 1"/>
          <p:cNvSpPr/>
          <p:nvPr/>
        </p:nvSpPr>
        <p:spPr>
          <a:xfrm>
            <a:off x="7863840" y="1371600"/>
            <a:ext cx="3474720" cy="2057400"/>
          </a:xfrm>
          <a:prstGeom prst="roundRect">
            <a:avLst>
              <a:gd name="adj" fmla="val 3111"/>
            </a:avLst>
          </a:prstGeom>
          <a:solidFill>
            <a:srgbClr val="FBF1F1"/>
          </a:solidFill>
          <a:ln/>
          <a:effectLst>
            <a:outerShdw sx="100000" sy="100000" kx="0" ky="0" algn="bl" rotWithShape="0" blurRad="88900" dist="25400" dir="5400000">
              <a:srgbClr val="9AA8B2">
                <a:alpha val="22000"/>
              </a:srgbClr>
            </a:outerShdw>
          </a:effectLst>
        </p:spPr>
      </p:sp>
      <p:sp>
        <p:nvSpPr>
          <p:cNvPr id="5" name="Shape 2"/>
          <p:cNvSpPr/>
          <p:nvPr/>
        </p:nvSpPr>
        <p:spPr>
          <a:xfrm>
            <a:off x="8065008" y="2244852"/>
            <a:ext cx="310896" cy="310896"/>
          </a:xfrm>
          <a:prstGeom prst="ellipse">
            <a:avLst/>
          </a:prstGeom>
          <a:solidFill>
            <a:srgbClr val="B03030"/>
          </a:solidFill>
          <a:ln/>
        </p:spPr>
      </p:sp>
      <p:sp>
        <p:nvSpPr>
          <p:cNvPr id="6" name="Text 3"/>
          <p:cNvSpPr/>
          <p:nvPr/>
        </p:nvSpPr>
        <p:spPr>
          <a:xfrm>
            <a:off x="8065008" y="224485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4"/>
          <p:cNvSpPr/>
          <p:nvPr/>
        </p:nvSpPr>
        <p:spPr>
          <a:xfrm>
            <a:off x="8503920" y="1481328"/>
            <a:ext cx="2606040" cy="1837944"/>
          </a:xfrm>
          <a:prstGeom prst="rect">
            <a:avLst/>
          </a:prstGeom>
          <a:noFill/>
          <a:ln/>
        </p:spPr>
        <p:txBody>
          <a:bodyPr wrap="square" lIns="0" tIns="0" rIns="0" bIns="0" rtlCol="0" anchor="ctr"/>
          <a:lstStyle/>
          <a:p>
            <a:pPr indent="0" marL="0">
              <a:buNone/>
            </a:pPr>
            <a:r>
              <a:rPr lang="en-US" sz="1400" b="1" dirty="0">
                <a:solidFill>
                  <a:srgbClr val="B03030"/>
                </a:solidFill>
                <a:latin typeface="Calibri" pitchFamily="34" charset="0"/>
                <a:ea typeface="Calibri" pitchFamily="34" charset="-122"/>
                <a:cs typeface="Calibri" pitchFamily="34" charset="-120"/>
              </a:rPr>
              <a:t>Regression.  </a:t>
            </a:r>
            <a:pPr indent="0" marL="0">
              <a:buNone/>
            </a:pPr>
            <a:r>
              <a:rPr lang="en-US" sz="1300" dirty="0">
                <a:solidFill>
                  <a:srgbClr val="1A1A1A"/>
                </a:solidFill>
                <a:latin typeface="Calibri" pitchFamily="34" charset="0"/>
                <a:ea typeface="Calibri" pitchFamily="34" charset="-122"/>
                <a:cs typeface="Calibri" pitchFamily="34" charset="-120"/>
              </a:rPr>
              <a:t>E_c(3 eV) fell 61.5 V → 36.8 V, outside the 50–70 V band published in Lieberman &amp; Lichtenberg Fig. 3.17.</a:t>
            </a:r>
            <a:endParaRPr lang="en-US" sz="1400" dirty="0"/>
          </a:p>
        </p:txBody>
      </p:sp>
      <p:sp>
        <p:nvSpPr>
          <p:cNvPr id="8" name="Text 5"/>
          <p:cNvSpPr/>
          <p:nvPr/>
        </p:nvSpPr>
        <p:spPr>
          <a:xfrm>
            <a:off x="7863840" y="3611880"/>
            <a:ext cx="347472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Why this settled it</a:t>
            </a:r>
            <a:endParaRPr lang="en-US" sz="1500" dirty="0"/>
          </a:p>
        </p:txBody>
      </p:sp>
      <p:sp>
        <p:nvSpPr>
          <p:cNvPr id="9" name="Text 6"/>
          <p:cNvSpPr/>
          <p:nvPr/>
        </p:nvSpPr>
        <p:spPr>
          <a:xfrm>
            <a:off x="7863840" y="3977640"/>
            <a:ext cx="3474720" cy="18288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It is a separate literature check, not part of the nine-point benchmark.</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It PASSED before the change.</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Breaking it is a loss of physical fidelity — not a matter of interpretation.</a:t>
            </a:r>
            <a:endParaRPr lang="en-US" sz="1300" dirty="0"/>
          </a:p>
        </p:txBody>
      </p:sp>
      <p:sp>
        <p:nvSpPr>
          <p:cNvPr id="10" name="Text 7"/>
          <p:cNvSpPr/>
          <p:nvPr/>
        </p:nvSpPr>
        <p:spPr>
          <a:xfrm>
            <a:off x="822960" y="5623560"/>
            <a:ext cx="10515600" cy="310896"/>
          </a:xfrm>
          <a:prstGeom prst="rect">
            <a:avLst/>
          </a:prstGeom>
          <a:noFill/>
          <a:ln/>
        </p:spPr>
        <p:txBody>
          <a:bodyPr wrap="square" lIns="0" tIns="0" rIns="0" bIns="0" rtlCol="0" anchor="ctr"/>
          <a:lstStyle/>
          <a:p>
            <a:pPr algn="ctr" indent="0" marL="0">
              <a:buNone/>
            </a:pPr>
            <a:r>
              <a:rPr lang="en-US" sz="1100" i="1" dirty="0">
                <a:solidFill>
                  <a:srgbClr val="5A6570"/>
                </a:solidFill>
                <a:latin typeface="Calibri" pitchFamily="34" charset="0"/>
                <a:ea typeface="Calibri" pitchFamily="34" charset="-122"/>
                <a:cs typeface="Calibri" pitchFamily="34" charset="-120"/>
              </a:rPr>
              <a:t>Collisional energy loss per electron–ion pair against the published argon band.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Root cause: the two coefficients are ratio-coupled</a:t>
            </a:r>
            <a:endParaRPr lang="en-US" sz="3000" dirty="0"/>
          </a:p>
        </p:txBody>
      </p:sp>
      <p:sp>
        <p:nvSpPr>
          <p:cNvPr id="3" name="Text 1"/>
          <p:cNvSpPr/>
          <p:nvPr/>
        </p:nvSpPr>
        <p:spPr>
          <a:xfrm>
            <a:off x="566928" y="1133856"/>
            <a:ext cx="11064240" cy="310896"/>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The energy-loss term depends only on the RATIO of excitation to ionization — never on either alone.</a:t>
            </a:r>
            <a:endParaRPr lang="en-US" sz="1350" dirty="0"/>
          </a:p>
        </p:txBody>
      </p:sp>
      <p:sp>
        <p:nvSpPr>
          <p:cNvPr id="4" name="Shape 2"/>
          <p:cNvSpPr/>
          <p:nvPr/>
        </p:nvSpPr>
        <p:spPr>
          <a:xfrm>
            <a:off x="822960" y="1737360"/>
            <a:ext cx="10515600" cy="548640"/>
          </a:xfrm>
          <a:prstGeom prst="roundRect">
            <a:avLst>
              <a:gd name="adj" fmla="val 8333"/>
            </a:avLst>
          </a:prstGeom>
          <a:solidFill>
            <a:srgbClr val="F4F6F8"/>
          </a:solidFill>
          <a:ln/>
        </p:spPr>
      </p:sp>
      <p:sp>
        <p:nvSpPr>
          <p:cNvPr id="5" name="Text 3"/>
          <p:cNvSpPr/>
          <p:nvPr/>
        </p:nvSpPr>
        <p:spPr>
          <a:xfrm>
            <a:off x="969264" y="1810512"/>
            <a:ext cx="10222992" cy="402336"/>
          </a:xfrm>
          <a:prstGeom prst="rect">
            <a:avLst/>
          </a:prstGeom>
          <a:noFill/>
          <a:ln/>
        </p:spPr>
        <p:txBody>
          <a:bodyPr wrap="square" lIns="0" tIns="0" rIns="0" bIns="0" rtlCol="0" anchor="ctr"/>
          <a:lstStyle/>
          <a:p>
            <a:pPr indent="0" marL="0">
              <a:buNone/>
            </a:pPr>
            <a:r>
              <a:rPr lang="en-US" sz="1300" dirty="0">
                <a:solidFill>
                  <a:srgbClr val="1A1A1A"/>
                </a:solidFill>
                <a:latin typeface="Courier New" pitchFamily="34" charset="0"/>
                <a:ea typeface="Courier New" pitchFamily="34" charset="-122"/>
                <a:cs typeface="Courier New" pitchFamily="34" charset="-120"/>
              </a:rPr>
              <a:t>E_c  =  E_IZ  +  E_EXC * (K_exc / K_iz)  +  (3 m_e / M) * Te * (K_el / K_iz)</a:t>
            </a:r>
            <a:endParaRPr lang="en-US" sz="1300" dirty="0"/>
          </a:p>
        </p:txBody>
      </p:sp>
      <p:pic>
        <p:nvPicPr>
          <p:cNvPr id="6" name="Image 0" descr="C:\Users\Rayyan Taimoor\Desktop\cs 6\fyp\final\plasma-digital-twin\error_fixing_attempts\figures\fig5_ratio_coupling.png">    </p:cNvPr>
          <p:cNvPicPr>
            <a:picLocks noChangeAspect="1"/>
          </p:cNvPicPr>
          <p:nvPr/>
        </p:nvPicPr>
        <p:blipFill>
          <a:blip r:embed="rId1"/>
          <a:stretch>
            <a:fillRect/>
          </a:stretch>
        </p:blipFill>
        <p:spPr>
          <a:xfrm>
            <a:off x="685800" y="2450592"/>
            <a:ext cx="6035040" cy="3355848"/>
          </a:xfrm>
          <a:prstGeom prst="rect">
            <a:avLst/>
          </a:prstGeom>
        </p:spPr>
      </p:pic>
      <p:sp>
        <p:nvSpPr>
          <p:cNvPr id="7" name="Text 4"/>
          <p:cNvSpPr/>
          <p:nvPr/>
        </p:nvSpPr>
        <p:spPr>
          <a:xfrm>
            <a:off x="6995160" y="2487168"/>
            <a:ext cx="434340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What went wrong</a:t>
            </a:r>
            <a:endParaRPr lang="en-US" sz="1500" dirty="0"/>
          </a:p>
        </p:txBody>
      </p:sp>
      <p:sp>
        <p:nvSpPr>
          <p:cNvPr id="8" name="Text 5"/>
          <p:cNvSpPr/>
          <p:nvPr/>
        </p:nvSpPr>
        <p:spPr>
          <a:xfrm>
            <a:off x="6995160" y="2880360"/>
            <a:ext cx="4343400" cy="20116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Refitting Kᵢₓ alone collapsed the ratio 3.77 → 1.73 at 3 eV.</a:t>
            </a:r>
            <a:endParaRPr lang="en-US" sz="1250" dirty="0"/>
          </a:p>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E_T fell 83 → 58 eV; density is proportional to 1/E_T, so both density checks blew out.</a:t>
            </a:r>
            <a:endParaRPr lang="en-US" sz="1250" dirty="0"/>
          </a:p>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A larger Kᵢₓ also means a lower Tₑ suffices to balance ionization — Tₑ shifted 3.29 → 2.86 eV, away from PIC.</a:t>
            </a:r>
            <a:endParaRPr lang="en-US" sz="1250" dirty="0"/>
          </a:p>
        </p:txBody>
      </p:sp>
      <p:sp>
        <p:nvSpPr>
          <p:cNvPr id="9" name="Shape 6"/>
          <p:cNvSpPr/>
          <p:nvPr/>
        </p:nvSpPr>
        <p:spPr>
          <a:xfrm>
            <a:off x="6995160" y="4937760"/>
            <a:ext cx="4343400" cy="868680"/>
          </a:xfrm>
          <a:prstGeom prst="roundRect">
            <a:avLst>
              <a:gd name="adj" fmla="val 7368"/>
            </a:avLst>
          </a:prstGeom>
          <a:solidFill>
            <a:srgbClr val="FBF1F1"/>
          </a:solidFill>
          <a:ln/>
          <a:effectLst>
            <a:outerShdw sx="100000" sy="100000" kx="0" ky="0" algn="bl" rotWithShape="0" blurRad="88900" dist="25400" dir="5400000">
              <a:srgbClr val="9AA8B2">
                <a:alpha val="22000"/>
              </a:srgbClr>
            </a:outerShdw>
          </a:effectLst>
        </p:spPr>
      </p:sp>
      <p:sp>
        <p:nvSpPr>
          <p:cNvPr id="10" name="Shape 7"/>
          <p:cNvSpPr/>
          <p:nvPr/>
        </p:nvSpPr>
        <p:spPr>
          <a:xfrm>
            <a:off x="7196328" y="5216652"/>
            <a:ext cx="310896" cy="310896"/>
          </a:xfrm>
          <a:prstGeom prst="ellipse">
            <a:avLst/>
          </a:prstGeom>
          <a:solidFill>
            <a:srgbClr val="B03030"/>
          </a:solidFill>
          <a:ln/>
        </p:spPr>
      </p:sp>
      <p:sp>
        <p:nvSpPr>
          <p:cNvPr id="11" name="Text 8"/>
          <p:cNvSpPr/>
          <p:nvPr/>
        </p:nvSpPr>
        <p:spPr>
          <a:xfrm>
            <a:off x="7196328" y="521665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9"/>
          <p:cNvSpPr/>
          <p:nvPr/>
        </p:nvSpPr>
        <p:spPr>
          <a:xfrm>
            <a:off x="7635240" y="5047488"/>
            <a:ext cx="3474720" cy="649224"/>
          </a:xfrm>
          <a:prstGeom prst="rect">
            <a:avLst/>
          </a:prstGeom>
          <a:noFill/>
          <a:ln/>
        </p:spPr>
        <p:txBody>
          <a:bodyPr wrap="square" lIns="0" tIns="0" rIns="0" bIns="0" rtlCol="0" anchor="ctr"/>
          <a:lstStyle/>
          <a:p>
            <a:pPr indent="0" marL="0">
              <a:buNone/>
            </a:pPr>
            <a:r>
              <a:rPr lang="en-US" sz="1400" b="1" dirty="0">
                <a:solidFill>
                  <a:srgbClr val="B03030"/>
                </a:solidFill>
                <a:latin typeface="Calibri" pitchFamily="34" charset="0"/>
                <a:ea typeface="Calibri" pitchFamily="34" charset="-122"/>
                <a:cs typeface="Calibri" pitchFamily="34" charset="-120"/>
              </a:rPr>
              <a:t>The masking effect:  </a:t>
            </a:r>
            <a:pPr indent="0" marL="0">
              <a:buNone/>
            </a:pPr>
            <a:r>
              <a:rPr lang="en-US" sz="1300" dirty="0">
                <a:solidFill>
                  <a:srgbClr val="1A1A1A"/>
                </a:solidFill>
                <a:latin typeface="Calibri" pitchFamily="34" charset="0"/>
                <a:ea typeface="Calibri" pitchFamily="34" charset="-122"/>
                <a:cs typeface="Calibri" pitchFamily="34" charset="-120"/>
              </a:rPr>
              <a:t>both original fits are wrong in the SAME direction, so their ratio — and E_c — came out plausible for the wrong reasons.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065A82"/>
                </a:solidFill>
                <a:latin typeface="Cambria" pitchFamily="34" charset="0"/>
                <a:ea typeface="Cambria" pitchFamily="34" charset="-122"/>
                <a:cs typeface="Cambria" pitchFamily="34" charset="-120"/>
              </a:rPr>
              <a:t>How one coefficient propagated into a validation failure</a:t>
            </a:r>
            <a:endParaRPr lang="en-US" sz="2800" dirty="0"/>
          </a:p>
        </p:txBody>
      </p:sp>
      <p:pic>
        <p:nvPicPr>
          <p:cNvPr id="3" name="Image 0" descr="C:\Users\Rayyan Taimoor\Desktop\cs 6\fyp\final\plasma-digital-twin\error_fixing_attempts\figures\fig7_propagation_chain.png">    </p:cNvPr>
          <p:cNvPicPr>
            <a:picLocks noChangeAspect="1"/>
          </p:cNvPicPr>
          <p:nvPr/>
        </p:nvPicPr>
        <p:blipFill>
          <a:blip r:embed="rId1"/>
          <a:stretch>
            <a:fillRect/>
          </a:stretch>
        </p:blipFill>
        <p:spPr>
          <a:xfrm>
            <a:off x="914400" y="1828800"/>
            <a:ext cx="10332720" cy="3566160"/>
          </a:xfrm>
          <a:prstGeom prst="rect">
            <a:avLst/>
          </a:prstGeom>
        </p:spPr>
      </p:pic>
      <p:sp>
        <p:nvSpPr>
          <p:cNvPr id="4" name="Shape 1"/>
          <p:cNvSpPr/>
          <p:nvPr/>
        </p:nvSpPr>
        <p:spPr>
          <a:xfrm>
            <a:off x="914400" y="5486400"/>
            <a:ext cx="10332720" cy="777240"/>
          </a:xfrm>
          <a:prstGeom prst="roundRect">
            <a:avLst>
              <a:gd name="adj" fmla="val 8235"/>
            </a:avLst>
          </a:prstGeom>
          <a:solidFill>
            <a:srgbClr val="FBF1F1"/>
          </a:solidFill>
          <a:ln/>
          <a:effectLst>
            <a:outerShdw sx="100000" sy="100000" kx="0" ky="0" algn="bl" rotWithShape="0" blurRad="88900" dist="25400" dir="5400000">
              <a:srgbClr val="9AA8B2">
                <a:alpha val="22000"/>
              </a:srgbClr>
            </a:outerShdw>
          </a:effectLst>
        </p:spPr>
      </p:sp>
      <p:sp>
        <p:nvSpPr>
          <p:cNvPr id="5" name="Shape 2"/>
          <p:cNvSpPr/>
          <p:nvPr/>
        </p:nvSpPr>
        <p:spPr>
          <a:xfrm>
            <a:off x="1115568" y="5719572"/>
            <a:ext cx="310896" cy="310896"/>
          </a:xfrm>
          <a:prstGeom prst="ellipse">
            <a:avLst/>
          </a:prstGeom>
          <a:solidFill>
            <a:srgbClr val="B03030"/>
          </a:solidFill>
          <a:ln/>
        </p:spPr>
      </p:sp>
      <p:sp>
        <p:nvSpPr>
          <p:cNvPr id="6" name="Text 3"/>
          <p:cNvSpPr/>
          <p:nvPr/>
        </p:nvSpPr>
        <p:spPr>
          <a:xfrm>
            <a:off x="1115568" y="571957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4"/>
          <p:cNvSpPr/>
          <p:nvPr/>
        </p:nvSpPr>
        <p:spPr>
          <a:xfrm>
            <a:off x="1554480" y="5596128"/>
            <a:ext cx="9464040" cy="557784"/>
          </a:xfrm>
          <a:prstGeom prst="rect">
            <a:avLst/>
          </a:prstGeom>
          <a:noFill/>
          <a:ln/>
        </p:spPr>
        <p:txBody>
          <a:bodyPr wrap="square" lIns="0" tIns="0" rIns="0" bIns="0" rtlCol="0" anchor="ctr"/>
          <a:lstStyle/>
          <a:p>
            <a:pPr indent="0" marL="0">
              <a:buNone/>
            </a:pPr>
            <a:r>
              <a:rPr lang="en-US" sz="1400" b="1" dirty="0">
                <a:solidFill>
                  <a:srgbClr val="B03030"/>
                </a:solidFill>
                <a:latin typeface="Calibri" pitchFamily="34" charset="0"/>
                <a:ea typeface="Calibri" pitchFamily="34" charset="-122"/>
                <a:cs typeface="Calibri" pitchFamily="34" charset="-120"/>
              </a:rPr>
              <a:t>Consequence:  </a:t>
            </a:r>
            <a:pPr indent="0" marL="0">
              <a:buNone/>
            </a:pPr>
            <a:r>
              <a:rPr lang="en-US" sz="1300" dirty="0">
                <a:solidFill>
                  <a:srgbClr val="1A1A1A"/>
                </a:solidFill>
                <a:latin typeface="Calibri" pitchFamily="34" charset="0"/>
                <a:ea typeface="Calibri" pitchFamily="34" charset="-122"/>
                <a:cs typeface="Calibri" pitchFamily="34" charset="-120"/>
              </a:rPr>
              <a:t>a cited Kᵢₓ beside an uncited Kₑₓᶜ is internally inconsistent — and measurably worse, in validation terms, than two consistently inaccurate fits.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Engine credibility: before vs after</a:t>
            </a:r>
            <a:endParaRPr lang="en-US" sz="3000" dirty="0"/>
          </a:p>
        </p:txBody>
      </p:sp>
      <p:sp>
        <p:nvSpPr>
          <p:cNvPr id="3" name="Text 1"/>
          <p:cNvSpPr/>
          <p:nvPr/>
        </p:nvSpPr>
        <p:spPr>
          <a:xfrm>
            <a:off x="566928" y="1133856"/>
            <a:ext cx="11064240" cy="310896"/>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The bottom line, across every dimension that constitutes credibility — not the 1.6 score alone.</a:t>
            </a:r>
            <a:endParaRPr lang="en-US" sz="1350" dirty="0"/>
          </a:p>
        </p:txBody>
      </p:sp>
      <p:pic>
        <p:nvPicPr>
          <p:cNvPr id="4" name="Image 0" descr="C:\Users\Rayyan Taimoor\Desktop\cs 6\fyp\final\plasma-digital-twin\error_fixing_attempts\figures\fig8_credibility_scorecard.png">    </p:cNvPr>
          <p:cNvPicPr>
            <a:picLocks noChangeAspect="1"/>
          </p:cNvPicPr>
          <p:nvPr/>
        </p:nvPicPr>
        <p:blipFill>
          <a:blip r:embed="rId1"/>
          <a:stretch>
            <a:fillRect/>
          </a:stretch>
        </p:blipFill>
        <p:spPr>
          <a:xfrm>
            <a:off x="640080" y="1600200"/>
            <a:ext cx="6858000" cy="3986784"/>
          </a:xfrm>
          <a:prstGeom prst="rect">
            <a:avLst/>
          </a:prstGeom>
        </p:spPr>
      </p:pic>
      <p:sp>
        <p:nvSpPr>
          <p:cNvPr id="5" name="Shape 2"/>
          <p:cNvSpPr/>
          <p:nvPr/>
        </p:nvSpPr>
        <p:spPr>
          <a:xfrm>
            <a:off x="7772400" y="1600200"/>
            <a:ext cx="1691640" cy="1051560"/>
          </a:xfrm>
          <a:prstGeom prst="roundRect">
            <a:avLst>
              <a:gd name="adj" fmla="val 6957"/>
            </a:avLst>
          </a:prstGeom>
          <a:solidFill>
            <a:srgbClr val="F0F7F0"/>
          </a:solidFill>
          <a:ln/>
          <a:effectLst>
            <a:outerShdw sx="100000" sy="100000" kx="0" ky="0" algn="bl" rotWithShape="0" blurRad="101600" dist="25400" dir="5400000">
              <a:srgbClr val="9AA8B2">
                <a:alpha val="28000"/>
              </a:srgbClr>
            </a:outerShdw>
          </a:effectLst>
        </p:spPr>
      </p:sp>
      <p:sp>
        <p:nvSpPr>
          <p:cNvPr id="6" name="Text 3"/>
          <p:cNvSpPr/>
          <p:nvPr/>
        </p:nvSpPr>
        <p:spPr>
          <a:xfrm>
            <a:off x="7863840" y="1746504"/>
            <a:ext cx="1508760" cy="546811"/>
          </a:xfrm>
          <a:prstGeom prst="rect">
            <a:avLst/>
          </a:prstGeom>
          <a:noFill/>
          <a:ln/>
        </p:spPr>
        <p:txBody>
          <a:bodyPr wrap="square" lIns="0" tIns="0" rIns="0" bIns="0" rtlCol="0" anchor="ctr"/>
          <a:lstStyle/>
          <a:p>
            <a:pPr algn="ctr" indent="0" marL="0">
              <a:buNone/>
            </a:pPr>
            <a:r>
              <a:rPr lang="en-US" sz="3000" b="1" dirty="0">
                <a:solidFill>
                  <a:srgbClr val="0A7A0A"/>
                </a:solidFill>
                <a:latin typeface="Cambria" pitchFamily="34" charset="0"/>
                <a:ea typeface="Cambria" pitchFamily="34" charset="-122"/>
                <a:cs typeface="Cambria" pitchFamily="34" charset="-120"/>
              </a:rPr>
              <a:t>1</a:t>
            </a:r>
            <a:endParaRPr lang="en-US" sz="3000" dirty="0"/>
          </a:p>
        </p:txBody>
      </p:sp>
      <p:sp>
        <p:nvSpPr>
          <p:cNvPr id="7" name="Text 4"/>
          <p:cNvSpPr/>
          <p:nvPr/>
        </p:nvSpPr>
        <p:spPr>
          <a:xfrm>
            <a:off x="7900416" y="2252167"/>
            <a:ext cx="1435608" cy="336499"/>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improved</a:t>
            </a:r>
            <a:endParaRPr lang="en-US" sz="1150" dirty="0"/>
          </a:p>
        </p:txBody>
      </p:sp>
      <p:sp>
        <p:nvSpPr>
          <p:cNvPr id="8" name="Shape 5"/>
          <p:cNvSpPr/>
          <p:nvPr/>
        </p:nvSpPr>
        <p:spPr>
          <a:xfrm>
            <a:off x="9646920" y="1600200"/>
            <a:ext cx="1691640" cy="1051560"/>
          </a:xfrm>
          <a:prstGeom prst="roundRect">
            <a:avLst>
              <a:gd name="adj" fmla="val 6957"/>
            </a:avLst>
          </a:prstGeom>
          <a:solidFill>
            <a:srgbClr val="FBF1F1"/>
          </a:solidFill>
          <a:ln/>
          <a:effectLst>
            <a:outerShdw sx="100000" sy="100000" kx="0" ky="0" algn="bl" rotWithShape="0" blurRad="101600" dist="25400" dir="5400000">
              <a:srgbClr val="9AA8B2">
                <a:alpha val="28000"/>
              </a:srgbClr>
            </a:outerShdw>
          </a:effectLst>
        </p:spPr>
      </p:sp>
      <p:sp>
        <p:nvSpPr>
          <p:cNvPr id="9" name="Text 6"/>
          <p:cNvSpPr/>
          <p:nvPr/>
        </p:nvSpPr>
        <p:spPr>
          <a:xfrm>
            <a:off x="9738360" y="1746504"/>
            <a:ext cx="1508760" cy="546811"/>
          </a:xfrm>
          <a:prstGeom prst="rect">
            <a:avLst/>
          </a:prstGeom>
          <a:noFill/>
          <a:ln/>
        </p:spPr>
        <p:txBody>
          <a:bodyPr wrap="square" lIns="0" tIns="0" rIns="0" bIns="0" rtlCol="0" anchor="ctr"/>
          <a:lstStyle/>
          <a:p>
            <a:pPr algn="ctr" indent="0" marL="0">
              <a:buNone/>
            </a:pPr>
            <a:r>
              <a:rPr lang="en-US" sz="3000" b="1" dirty="0">
                <a:solidFill>
                  <a:srgbClr val="B03030"/>
                </a:solidFill>
                <a:latin typeface="Cambria" pitchFamily="34" charset="0"/>
                <a:ea typeface="Cambria" pitchFamily="34" charset="-122"/>
                <a:cs typeface="Cambria" pitchFamily="34" charset="-120"/>
              </a:rPr>
              <a:t>4</a:t>
            </a:r>
            <a:endParaRPr lang="en-US" sz="3000" dirty="0"/>
          </a:p>
        </p:txBody>
      </p:sp>
      <p:sp>
        <p:nvSpPr>
          <p:cNvPr id="10" name="Text 7"/>
          <p:cNvSpPr/>
          <p:nvPr/>
        </p:nvSpPr>
        <p:spPr>
          <a:xfrm>
            <a:off x="9774936" y="2252167"/>
            <a:ext cx="1435608" cy="336499"/>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degraded</a:t>
            </a:r>
            <a:endParaRPr lang="en-US" sz="1150" dirty="0"/>
          </a:p>
        </p:txBody>
      </p:sp>
      <p:sp>
        <p:nvSpPr>
          <p:cNvPr id="11" name="Text 8"/>
          <p:cNvSpPr/>
          <p:nvPr/>
        </p:nvSpPr>
        <p:spPr>
          <a:xfrm>
            <a:off x="7772400" y="2834640"/>
            <a:ext cx="356616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The decisive asymmetry</a:t>
            </a:r>
            <a:endParaRPr lang="en-US" sz="1500" dirty="0"/>
          </a:p>
        </p:txBody>
      </p:sp>
      <p:sp>
        <p:nvSpPr>
          <p:cNvPr id="12" name="Text 9"/>
          <p:cNvSpPr/>
          <p:nvPr/>
        </p:nvSpPr>
        <p:spPr>
          <a:xfrm>
            <a:off x="7772400" y="3200400"/>
            <a:ext cx="3566160" cy="20116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Provenance is a property of the DOCUMENTATION — how well the code cites its sources.</a:t>
            </a:r>
            <a:endParaRPr lang="en-US" sz="1250" dirty="0"/>
          </a:p>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Agreement with Lieberman &amp; Lichtenberg is a property of the PHYSICS — whether it behaves like a real discharge.</a:t>
            </a:r>
            <a:endParaRPr lang="en-US" sz="1250" dirty="0"/>
          </a:p>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Trading the second for the first is the wrong trade for a physics engine.</a:t>
            </a:r>
            <a:endParaRPr lang="en-US" sz="1250" dirty="0"/>
          </a:p>
        </p:txBody>
      </p:sp>
      <p:sp>
        <p:nvSpPr>
          <p:cNvPr id="13" name="Shape 10"/>
          <p:cNvSpPr/>
          <p:nvPr/>
        </p:nvSpPr>
        <p:spPr>
          <a:xfrm>
            <a:off x="7772400" y="4617720"/>
            <a:ext cx="3566160" cy="1143000"/>
          </a:xfrm>
          <a:prstGeom prst="roundRect">
            <a:avLst>
              <a:gd name="adj" fmla="val 5600"/>
            </a:avLst>
          </a:prstGeom>
          <a:solidFill>
            <a:srgbClr val="FBF1F1"/>
          </a:solidFill>
          <a:ln/>
          <a:effectLst>
            <a:outerShdw sx="100000" sy="100000" kx="0" ky="0" algn="bl" rotWithShape="0" blurRad="88900" dist="25400" dir="5400000">
              <a:srgbClr val="9AA8B2">
                <a:alpha val="22000"/>
              </a:srgbClr>
            </a:outerShdw>
          </a:effectLst>
        </p:spPr>
      </p:sp>
      <p:sp>
        <p:nvSpPr>
          <p:cNvPr id="14" name="Shape 11"/>
          <p:cNvSpPr/>
          <p:nvPr/>
        </p:nvSpPr>
        <p:spPr>
          <a:xfrm>
            <a:off x="7973568" y="5033772"/>
            <a:ext cx="310896" cy="310896"/>
          </a:xfrm>
          <a:prstGeom prst="ellipse">
            <a:avLst/>
          </a:prstGeom>
          <a:solidFill>
            <a:srgbClr val="B03030"/>
          </a:solidFill>
          <a:ln/>
        </p:spPr>
      </p:sp>
      <p:sp>
        <p:nvSpPr>
          <p:cNvPr id="15" name="Text 12"/>
          <p:cNvSpPr/>
          <p:nvPr/>
        </p:nvSpPr>
        <p:spPr>
          <a:xfrm>
            <a:off x="7973568" y="503377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6" name="Text 13"/>
          <p:cNvSpPr/>
          <p:nvPr/>
        </p:nvSpPr>
        <p:spPr>
          <a:xfrm>
            <a:off x="8412480" y="4727448"/>
            <a:ext cx="2697480" cy="923544"/>
          </a:xfrm>
          <a:prstGeom prst="rect">
            <a:avLst/>
          </a:prstGeom>
          <a:noFill/>
          <a:ln/>
        </p:spPr>
        <p:txBody>
          <a:bodyPr wrap="square" lIns="0" tIns="0" rIns="0" bIns="0" rtlCol="0" anchor="ctr"/>
          <a:lstStyle/>
          <a:p>
            <a:pPr indent="0" marL="0">
              <a:buNone/>
            </a:pPr>
            <a:r>
              <a:rPr lang="en-US" sz="1400" b="1" dirty="0">
                <a:solidFill>
                  <a:srgbClr val="B03030"/>
                </a:solidFill>
                <a:latin typeface="Calibri" pitchFamily="34" charset="0"/>
                <a:ea typeface="Calibri" pitchFamily="34" charset="-122"/>
                <a:cs typeface="Calibri" pitchFamily="34" charset="-120"/>
              </a:rPr>
              <a:t>Consistency won.  </a:t>
            </a:r>
            <a:pPr indent="0" marL="0">
              <a:buNone/>
            </a:pPr>
            <a:r>
              <a:rPr lang="en-US" sz="1300" dirty="0">
                <a:solidFill>
                  <a:srgbClr val="1A1A1A"/>
                </a:solidFill>
                <a:latin typeface="Calibri" pitchFamily="34" charset="0"/>
                <a:ea typeface="Calibri" pitchFamily="34" charset="-122"/>
                <a:cs typeface="Calibri" pitchFamily="34" charset="-120"/>
              </a:rPr>
              <a:t>Two matched unattributed fits beat one cited + one uncited, because the physics depends on their ratio.</a:t>
            </a:r>
            <a:endParaRPr lang="en-US" sz="1400" dirty="0"/>
          </a:p>
        </p:txBody>
      </p:sp>
      <p:sp>
        <p:nvSpPr>
          <p:cNvPr id="17" name="Text 14"/>
          <p:cNvSpPr/>
          <p:nvPr/>
        </p:nvSpPr>
        <p:spPr>
          <a:xfrm>
            <a:off x="822960" y="5669280"/>
            <a:ext cx="10515600" cy="310896"/>
          </a:xfrm>
          <a:prstGeom prst="rect">
            <a:avLst/>
          </a:prstGeom>
          <a:noFill/>
          <a:ln/>
        </p:spPr>
        <p:txBody>
          <a:bodyPr wrap="square" lIns="0" tIns="0" rIns="0" bIns="0" rtlCol="0" anchor="ctr"/>
          <a:lstStyle/>
          <a:p>
            <a:pPr algn="ctr" indent="0" marL="0">
              <a:buNone/>
            </a:pPr>
            <a:r>
              <a:rPr lang="en-US" sz="1100" i="1" dirty="0">
                <a:solidFill>
                  <a:srgbClr val="5A6570"/>
                </a:solidFill>
                <a:latin typeface="Calibri" pitchFamily="34" charset="0"/>
                <a:ea typeface="Calibri" pitchFamily="34" charset="-122"/>
                <a:cs typeface="Calibri" pitchFamily="34" charset="-120"/>
              </a:rPr>
              <a:t>Green = improved · red = degraded · the rest unchanged.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Computational performance: unchanged</a:t>
            </a:r>
            <a:endParaRPr lang="en-US" sz="3000" dirty="0"/>
          </a:p>
        </p:txBody>
      </p:sp>
      <p:sp>
        <p:nvSpPr>
          <p:cNvPr id="3" name="Text 1"/>
          <p:cNvSpPr/>
          <p:nvPr/>
        </p:nvSpPr>
        <p:spPr>
          <a:xfrm>
            <a:off x="566928" y="1133856"/>
            <a:ext cx="11064240" cy="310896"/>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Measured, not assumed — and the result is honestly a null one.</a:t>
            </a:r>
            <a:endParaRPr lang="en-US" sz="1350" dirty="0"/>
          </a:p>
        </p:txBody>
      </p:sp>
      <p:pic>
        <p:nvPicPr>
          <p:cNvPr id="4" name="Image 0" descr="C:\Users\Rayyan Taimoor\Desktop\cs 6\fyp\final\plasma-digital-twin\error_fixing_attempts\figures\fig9_runtime.png">    </p:cNvPr>
          <p:cNvPicPr>
            <a:picLocks noChangeAspect="1"/>
          </p:cNvPicPr>
          <p:nvPr/>
        </p:nvPicPr>
        <p:blipFill>
          <a:blip r:embed="rId1"/>
          <a:stretch>
            <a:fillRect/>
          </a:stretch>
        </p:blipFill>
        <p:spPr>
          <a:xfrm>
            <a:off x="640080" y="1645920"/>
            <a:ext cx="6492240" cy="3511296"/>
          </a:xfrm>
          <a:prstGeom prst="rect">
            <a:avLst/>
          </a:prstGeom>
        </p:spPr>
      </p:pic>
      <p:sp>
        <p:nvSpPr>
          <p:cNvPr id="5" name="Text 2"/>
          <p:cNvSpPr/>
          <p:nvPr/>
        </p:nvSpPr>
        <p:spPr>
          <a:xfrm>
            <a:off x="7406640" y="1691640"/>
            <a:ext cx="393192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Why no change was expected</a:t>
            </a:r>
            <a:endParaRPr lang="en-US" sz="1500" dirty="0"/>
          </a:p>
        </p:txBody>
      </p:sp>
      <p:sp>
        <p:nvSpPr>
          <p:cNvPr id="6" name="Text 3"/>
          <p:cNvSpPr/>
          <p:nvPr/>
        </p:nvSpPr>
        <p:spPr>
          <a:xfrm>
            <a:off x="7406640" y="2084832"/>
            <a:ext cx="3931920" cy="210312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Both fits share the identical form A·Tₑⁿ·exp(−E/Tₑ), so the operation count per call is the same.</a:t>
            </a:r>
            <a:endParaRPr lang="en-US" sz="1250" dirty="0"/>
          </a:p>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All timings land in 24–27 µs per simulate() call.</a:t>
            </a:r>
            <a:endParaRPr lang="en-US" sz="1250" dirty="0"/>
          </a:p>
          <a:p>
            <a:pPr marL="342900" indent="-342900">
              <a:spcAft>
                <a:spcPts val="900"/>
              </a:spcAft>
              <a:buSzPct val="100000"/>
              <a:buChar char="•"/>
            </a:pPr>
            <a:r>
              <a:rPr lang="en-US" sz="1250" dirty="0">
                <a:solidFill>
                  <a:srgbClr val="1A1A1A"/>
                </a:solidFill>
                <a:latin typeface="Calibri" pitchFamily="34" charset="0"/>
                <a:ea typeface="Calibri" pitchFamily="34" charset="-122"/>
                <a:cs typeface="Calibri" pitchFamily="34" charset="-120"/>
              </a:rPr>
              <a:t>The before/after gap is smaller than the spread between two timings of identical code.</a:t>
            </a:r>
            <a:endParaRPr lang="en-US" sz="1250" dirty="0"/>
          </a:p>
        </p:txBody>
      </p:sp>
      <p:sp>
        <p:nvSpPr>
          <p:cNvPr id="7" name="Shape 4"/>
          <p:cNvSpPr/>
          <p:nvPr/>
        </p:nvSpPr>
        <p:spPr>
          <a:xfrm>
            <a:off x="7406640" y="3977640"/>
            <a:ext cx="3931920" cy="1600200"/>
          </a:xfrm>
          <a:prstGeom prst="roundRect">
            <a:avLst>
              <a:gd name="adj" fmla="val 4000"/>
            </a:avLst>
          </a:prstGeom>
          <a:solidFill>
            <a:srgbClr val="F2F7FA"/>
          </a:solidFill>
          <a:ln/>
          <a:effectLst>
            <a:outerShdw sx="100000" sy="100000" kx="0" ky="0" algn="bl" rotWithShape="0" blurRad="88900" dist="25400" dir="5400000">
              <a:srgbClr val="9AA8B2">
                <a:alpha val="22000"/>
              </a:srgbClr>
            </a:outerShdw>
          </a:effectLst>
        </p:spPr>
      </p:sp>
      <p:sp>
        <p:nvSpPr>
          <p:cNvPr id="8" name="Shape 5"/>
          <p:cNvSpPr/>
          <p:nvPr/>
        </p:nvSpPr>
        <p:spPr>
          <a:xfrm>
            <a:off x="7607808" y="4622292"/>
            <a:ext cx="310896" cy="310896"/>
          </a:xfrm>
          <a:prstGeom prst="ellipse">
            <a:avLst/>
          </a:prstGeom>
          <a:solidFill>
            <a:srgbClr val="1C7293"/>
          </a:solidFill>
          <a:ln/>
        </p:spPr>
      </p:sp>
      <p:sp>
        <p:nvSpPr>
          <p:cNvPr id="9" name="Text 6"/>
          <p:cNvSpPr/>
          <p:nvPr/>
        </p:nvSpPr>
        <p:spPr>
          <a:xfrm>
            <a:off x="7607808" y="462229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7"/>
          <p:cNvSpPr/>
          <p:nvPr/>
        </p:nvSpPr>
        <p:spPr>
          <a:xfrm>
            <a:off x="8046720" y="4087368"/>
            <a:ext cx="3063240" cy="1380744"/>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Measurement caveat, recorded:  </a:t>
            </a:r>
            <a:pPr indent="0" marL="0">
              <a:buNone/>
            </a:pPr>
            <a:r>
              <a:rPr lang="en-US" sz="1300" dirty="0">
                <a:solidFill>
                  <a:srgbClr val="1A1A1A"/>
                </a:solidFill>
                <a:latin typeface="Calibri" pitchFamily="34" charset="0"/>
                <a:ea typeface="Calibri" pitchFamily="34" charset="-122"/>
                <a:cs typeface="Calibri" pitchFamily="34" charset="-120"/>
              </a:rPr>
              <a:t>solve_electron_temperature is LRU-cached. An early benchmark reported a spurious 2× difference — and an unchanged Tₑ — by timing a cold cache. Fixed by clearing it on each swap.</a:t>
            </a:r>
            <a:endParaRPr lang="en-US" sz="1400" dirty="0"/>
          </a:p>
        </p:txBody>
      </p:sp>
      <p:sp>
        <p:nvSpPr>
          <p:cNvPr id="11" name="Text 8"/>
          <p:cNvSpPr/>
          <p:nvPr/>
        </p:nvSpPr>
        <p:spPr>
          <a:xfrm>
            <a:off x="822960" y="5257800"/>
            <a:ext cx="10515600" cy="310896"/>
          </a:xfrm>
          <a:prstGeom prst="rect">
            <a:avLst/>
          </a:prstGeom>
          <a:noFill/>
          <a:ln/>
        </p:spPr>
        <p:txBody>
          <a:bodyPr wrap="square" lIns="0" tIns="0" rIns="0" bIns="0" rtlCol="0" anchor="ctr"/>
          <a:lstStyle/>
          <a:p>
            <a:pPr algn="ctr" indent="0" marL="0">
              <a:buNone/>
            </a:pPr>
            <a:r>
              <a:rPr lang="en-US" sz="1100" i="1" dirty="0">
                <a:solidFill>
                  <a:srgbClr val="5A6570"/>
                </a:solidFill>
                <a:latin typeface="Calibri" pitchFamily="34" charset="0"/>
                <a:ea typeface="Calibri" pitchFamily="34" charset="-122"/>
                <a:cs typeface="Calibri" pitchFamily="34" charset="-120"/>
              </a:rPr>
              <a:t>Median simulate() time; the third bar re-measures unchanged code to establish the noise floor.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96012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Decision: reverted in full</a:t>
            </a:r>
            <a:endParaRPr lang="en-US" sz="3200" dirty="0"/>
          </a:p>
        </p:txBody>
      </p:sp>
      <p:sp>
        <p:nvSpPr>
          <p:cNvPr id="3" name="Text 1"/>
          <p:cNvSpPr/>
          <p:nvPr/>
        </p:nvSpPr>
        <p:spPr>
          <a:xfrm>
            <a:off x="822960" y="1737360"/>
            <a:ext cx="10515600" cy="64008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The change existed only in an isolated worktree, which was discarded with its branch. Restoration was verified: original constants present, benchmark back to 6/9, energy-loss check passing again.</a:t>
            </a:r>
            <a:endParaRPr lang="en-US" sz="1500" dirty="0"/>
          </a:p>
        </p:txBody>
      </p:sp>
      <p:sp>
        <p:nvSpPr>
          <p:cNvPr id="4" name="Shape 2"/>
          <p:cNvSpPr/>
          <p:nvPr/>
        </p:nvSpPr>
        <p:spPr>
          <a:xfrm>
            <a:off x="822960" y="2642616"/>
            <a:ext cx="384048" cy="384048"/>
          </a:xfrm>
          <a:prstGeom prst="ellipse">
            <a:avLst/>
          </a:prstGeom>
          <a:solidFill>
            <a:srgbClr val="7FB3CC"/>
          </a:solidFill>
          <a:ln/>
        </p:spPr>
      </p:sp>
      <p:sp>
        <p:nvSpPr>
          <p:cNvPr id="5" name="Text 3"/>
          <p:cNvSpPr/>
          <p:nvPr/>
        </p:nvSpPr>
        <p:spPr>
          <a:xfrm>
            <a:off x="822960" y="2642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371600" y="2606040"/>
            <a:ext cx="996696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It broke an independent published check that previously passed.</a:t>
            </a:r>
            <a:endParaRPr lang="en-US" sz="1550" dirty="0"/>
          </a:p>
        </p:txBody>
      </p:sp>
      <p:sp>
        <p:nvSpPr>
          <p:cNvPr id="7" name="Text 5"/>
          <p:cNvSpPr/>
          <p:nvPr/>
        </p:nvSpPr>
        <p:spPr>
          <a:xfrm>
            <a:off x="1371600" y="2953512"/>
            <a:ext cx="9966960" cy="658368"/>
          </a:xfrm>
          <a:prstGeom prst="rect">
            <a:avLst/>
          </a:prstGeom>
          <a:noFill/>
          <a:ln/>
        </p:spPr>
        <p:txBody>
          <a:bodyPr wrap="square" lIns="0" tIns="0" rIns="0" bIns="0" rtlCol="0" anchor="t"/>
          <a:lstStyle/>
          <a:p>
            <a:pPr indent="0" marL="0">
              <a:buNone/>
            </a:pPr>
            <a:r>
              <a:rPr lang="en-US" sz="1300" dirty="0">
                <a:solidFill>
                  <a:srgbClr val="AFC2DC"/>
                </a:solidFill>
                <a:latin typeface="Calibri" pitchFamily="34" charset="0"/>
                <a:ea typeface="Calibri" pitchFamily="34" charset="-122"/>
                <a:cs typeface="Calibri" pitchFamily="34" charset="-120"/>
              </a:rPr>
              <a:t>Trading genuine agreement with Lieberman &amp; Lichtenberg for marginally better provenance is a net loss in fidelity.</a:t>
            </a:r>
            <a:endParaRPr lang="en-US" sz="1300" dirty="0"/>
          </a:p>
        </p:txBody>
      </p:sp>
      <p:sp>
        <p:nvSpPr>
          <p:cNvPr id="8" name="Shape 6"/>
          <p:cNvSpPr/>
          <p:nvPr/>
        </p:nvSpPr>
        <p:spPr>
          <a:xfrm>
            <a:off x="822960" y="3813048"/>
            <a:ext cx="384048" cy="384048"/>
          </a:xfrm>
          <a:prstGeom prst="ellipse">
            <a:avLst/>
          </a:prstGeom>
          <a:solidFill>
            <a:srgbClr val="7FB3CC"/>
          </a:solidFill>
          <a:ln/>
        </p:spPr>
      </p:sp>
      <p:sp>
        <p:nvSpPr>
          <p:cNvPr id="9" name="Text 7"/>
          <p:cNvSpPr/>
          <p:nvPr/>
        </p:nvSpPr>
        <p:spPr>
          <a:xfrm>
            <a:off x="822960" y="3813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371600" y="3776472"/>
            <a:ext cx="996696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The source is the wrong family for this operating window.</a:t>
            </a:r>
            <a:endParaRPr lang="en-US" sz="1550" dirty="0"/>
          </a:p>
        </p:txBody>
      </p:sp>
      <p:sp>
        <p:nvSpPr>
          <p:cNvPr id="11" name="Text 9"/>
          <p:cNvSpPr/>
          <p:nvPr/>
        </p:nvSpPr>
        <p:spPr>
          <a:xfrm>
            <a:off x="1371600" y="4123944"/>
            <a:ext cx="9966960" cy="658368"/>
          </a:xfrm>
          <a:prstGeom prst="rect">
            <a:avLst/>
          </a:prstGeom>
          <a:noFill/>
          <a:ln/>
        </p:spPr>
        <p:txBody>
          <a:bodyPr wrap="square" lIns="0" tIns="0" rIns="0" bIns="0" rtlCol="0" anchor="t"/>
          <a:lstStyle/>
          <a:p>
            <a:pPr indent="0" marL="0">
              <a:buNone/>
            </a:pPr>
            <a:r>
              <a:rPr lang="en-US" sz="1300" dirty="0">
                <a:solidFill>
                  <a:srgbClr val="AFC2DC"/>
                </a:solidFill>
                <a:latin typeface="Calibri" pitchFamily="34" charset="0"/>
                <a:ea typeface="Calibri" pitchFamily="34" charset="-122"/>
                <a:cs typeface="Calibri" pitchFamily="34" charset="-120"/>
              </a:rPr>
              <a:t>A general-purpose fit spanning 1 eV–20 keV across 28 elements is not the right reference for a 2–6 eV argon capacitive discharge.</a:t>
            </a:r>
            <a:endParaRPr lang="en-US" sz="1300" dirty="0"/>
          </a:p>
        </p:txBody>
      </p:sp>
      <p:sp>
        <p:nvSpPr>
          <p:cNvPr id="12" name="Shape 10"/>
          <p:cNvSpPr/>
          <p:nvPr/>
        </p:nvSpPr>
        <p:spPr>
          <a:xfrm>
            <a:off x="822960" y="4983480"/>
            <a:ext cx="384048" cy="384048"/>
          </a:xfrm>
          <a:prstGeom prst="ellipse">
            <a:avLst/>
          </a:prstGeom>
          <a:solidFill>
            <a:srgbClr val="7FB3CC"/>
          </a:solidFill>
          <a:ln/>
        </p:spPr>
      </p:sp>
      <p:sp>
        <p:nvSpPr>
          <p:cNvPr id="13" name="Text 11"/>
          <p:cNvSpPr/>
          <p:nvPr/>
        </p:nvSpPr>
        <p:spPr>
          <a:xfrm>
            <a:off x="822960" y="4983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371600" y="4946904"/>
            <a:ext cx="996696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The resulting engine would be internally inconsistent.</a:t>
            </a:r>
            <a:endParaRPr lang="en-US" sz="1550" dirty="0"/>
          </a:p>
        </p:txBody>
      </p:sp>
      <p:sp>
        <p:nvSpPr>
          <p:cNvPr id="15" name="Text 13"/>
          <p:cNvSpPr/>
          <p:nvPr/>
        </p:nvSpPr>
        <p:spPr>
          <a:xfrm>
            <a:off x="1371600" y="5294376"/>
            <a:ext cx="9966960" cy="658368"/>
          </a:xfrm>
          <a:prstGeom prst="rect">
            <a:avLst/>
          </a:prstGeom>
          <a:noFill/>
          <a:ln/>
        </p:spPr>
        <p:txBody>
          <a:bodyPr wrap="square" lIns="0" tIns="0" rIns="0" bIns="0" rtlCol="0" anchor="t"/>
          <a:lstStyle/>
          <a:p>
            <a:pPr indent="0" marL="0">
              <a:buNone/>
            </a:pPr>
            <a:r>
              <a:rPr lang="en-US" sz="1300" dirty="0">
                <a:solidFill>
                  <a:srgbClr val="AFC2DC"/>
                </a:solidFill>
                <a:latin typeface="Calibri" pitchFamily="34" charset="0"/>
                <a:ea typeface="Calibri" pitchFamily="34" charset="-122"/>
                <a:cs typeface="Calibri" pitchFamily="34" charset="-120"/>
              </a:rPr>
              <a:t>One cited coefficient beside one uncited coefficient is harder to defend than a matched pair — because the physics depends on their ratio.</a:t>
            </a:r>
            <a:endParaRPr lang="en-US" sz="1300" dirty="0"/>
          </a:p>
        </p:txBody>
      </p:sp>
      <p:sp>
        <p:nvSpPr>
          <p:cNvPr id="16" name="Text 14"/>
          <p:cNvSpPr/>
          <p:nvPr/>
        </p:nvSpPr>
        <p:spPr>
          <a:xfrm>
            <a:off x="822960" y="6016752"/>
            <a:ext cx="10515600" cy="411480"/>
          </a:xfrm>
          <a:prstGeom prst="rect">
            <a:avLst/>
          </a:prstGeom>
          <a:noFill/>
          <a:ln/>
        </p:spPr>
        <p:txBody>
          <a:bodyPr wrap="square" lIns="0" tIns="0" rIns="0" bIns="0" rtlCol="0" anchor="t"/>
          <a:lstStyle/>
          <a:p>
            <a:pPr indent="0" marL="0">
              <a:buNone/>
            </a:pPr>
            <a:r>
              <a:rPr lang="en-US" sz="1300" i="1" dirty="0">
                <a:solidFill>
                  <a:srgbClr val="F0C7C7"/>
                </a:solidFill>
                <a:latin typeface="Calibri" pitchFamily="34" charset="0"/>
                <a:ea typeface="Calibri" pitchFamily="34" charset="-122"/>
                <a:cs typeface="Calibri" pitchFamily="34" charset="-120"/>
              </a:rPr>
              <a:t>What we did NOT do: nudge the constants after seeing the results. That would have produced a better score while rendering the whole validation meaningless.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What we kept: the effort became permanent knowledge</a:t>
            </a:r>
            <a:endParaRPr lang="en-US" sz="3000" dirty="0"/>
          </a:p>
        </p:txBody>
      </p:sp>
      <p:sp>
        <p:nvSpPr>
          <p:cNvPr id="3" name="Text 1"/>
          <p:cNvSpPr/>
          <p:nvPr/>
        </p:nvSpPr>
        <p:spPr>
          <a:xfrm>
            <a:off x="566928" y="1133856"/>
            <a:ext cx="11064240" cy="310896"/>
          </a:xfrm>
          <a:prstGeom prst="rect">
            <a:avLst/>
          </a:prstGeom>
          <a:noFill/>
          <a:ln/>
        </p:spPr>
        <p:txBody>
          <a:bodyPr wrap="square" lIns="0" tIns="0" rIns="0" bIns="0" rtlCol="0" anchor="t"/>
          <a:lstStyle/>
          <a:p>
            <a:pPr indent="0" marL="0">
              <a:buNone/>
            </a:pPr>
            <a:r>
              <a:rPr lang="en-US" sz="1350" i="1" dirty="0">
                <a:solidFill>
                  <a:srgbClr val="5A6570"/>
                </a:solidFill>
                <a:latin typeface="Calibri" pitchFamily="34" charset="0"/>
                <a:ea typeface="Calibri" pitchFamily="34" charset="-122"/>
                <a:cs typeface="Calibri" pitchFamily="34" charset="-120"/>
              </a:rPr>
              <a:t>The code change was discarded, but three durable artefacts remain.</a:t>
            </a:r>
            <a:endParaRPr lang="en-US" sz="1350" dirty="0"/>
          </a:p>
        </p:txBody>
      </p:sp>
      <p:sp>
        <p:nvSpPr>
          <p:cNvPr id="4" name="Shape 2"/>
          <p:cNvSpPr/>
          <p:nvPr/>
        </p:nvSpPr>
        <p:spPr>
          <a:xfrm>
            <a:off x="822960" y="1801368"/>
            <a:ext cx="384048" cy="384048"/>
          </a:xfrm>
          <a:prstGeom prst="ellipse">
            <a:avLst/>
          </a:prstGeom>
          <a:solidFill>
            <a:srgbClr val="065A82"/>
          </a:solidFill>
          <a:ln/>
        </p:spPr>
      </p:sp>
      <p:sp>
        <p:nvSpPr>
          <p:cNvPr id="5" name="Text 3"/>
          <p:cNvSpPr/>
          <p:nvPr/>
        </p:nvSpPr>
        <p:spPr>
          <a:xfrm>
            <a:off x="822960" y="1801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353312" y="1783080"/>
            <a:ext cx="276148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A warning at the point of danger</a:t>
            </a:r>
            <a:endParaRPr lang="en-US" sz="1500" dirty="0"/>
          </a:p>
        </p:txBody>
      </p:sp>
      <p:sp>
        <p:nvSpPr>
          <p:cNvPr id="7" name="Text 5"/>
          <p:cNvSpPr/>
          <p:nvPr/>
        </p:nvSpPr>
        <p:spPr>
          <a:xfrm>
            <a:off x="1353312" y="2084832"/>
            <a:ext cx="276148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A comment block above the rate coefficients records the coupling, this attempt, and the gate a future attempt must clear. Verified comment-only — all values byte-identical.</a:t>
            </a:r>
            <a:endParaRPr lang="en-US" sz="1250" dirty="0"/>
          </a:p>
        </p:txBody>
      </p:sp>
      <p:sp>
        <p:nvSpPr>
          <p:cNvPr id="8" name="Shape 6"/>
          <p:cNvSpPr/>
          <p:nvPr/>
        </p:nvSpPr>
        <p:spPr>
          <a:xfrm>
            <a:off x="4343400" y="1801368"/>
            <a:ext cx="384048" cy="384048"/>
          </a:xfrm>
          <a:prstGeom prst="ellipse">
            <a:avLst/>
          </a:prstGeom>
          <a:solidFill>
            <a:srgbClr val="065A82"/>
          </a:solidFill>
          <a:ln/>
        </p:spPr>
      </p:sp>
      <p:sp>
        <p:nvSpPr>
          <p:cNvPr id="9" name="Text 7"/>
          <p:cNvSpPr/>
          <p:nvPr/>
        </p:nvSpPr>
        <p:spPr>
          <a:xfrm>
            <a:off x="4343400" y="1801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4873752" y="1783080"/>
            <a:ext cx="276148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A documented constraint in the backlog</a:t>
            </a:r>
            <a:endParaRPr lang="en-US" sz="1500" dirty="0"/>
          </a:p>
        </p:txBody>
      </p:sp>
      <p:sp>
        <p:nvSpPr>
          <p:cNvPr id="11" name="Text 9"/>
          <p:cNvSpPr/>
          <p:nvPr/>
        </p:nvSpPr>
        <p:spPr>
          <a:xfrm>
            <a:off x="4873752" y="2084832"/>
            <a:ext cx="276148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FUTURE.md item 1 carries the full reasoning, the verified citation, and the procedure to follow if revisited.</a:t>
            </a:r>
            <a:endParaRPr lang="en-US" sz="1250" dirty="0"/>
          </a:p>
        </p:txBody>
      </p:sp>
      <p:sp>
        <p:nvSpPr>
          <p:cNvPr id="12" name="Shape 10"/>
          <p:cNvSpPr/>
          <p:nvPr/>
        </p:nvSpPr>
        <p:spPr>
          <a:xfrm>
            <a:off x="7863840" y="1801368"/>
            <a:ext cx="384048" cy="384048"/>
          </a:xfrm>
          <a:prstGeom prst="ellipse">
            <a:avLst/>
          </a:prstGeom>
          <a:solidFill>
            <a:srgbClr val="065A82"/>
          </a:solidFill>
          <a:ln/>
        </p:spPr>
      </p:sp>
      <p:sp>
        <p:nvSpPr>
          <p:cNvPr id="13" name="Text 11"/>
          <p:cNvSpPr/>
          <p:nvPr/>
        </p:nvSpPr>
        <p:spPr>
          <a:xfrm>
            <a:off x="7863840" y="1801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8394192" y="1783080"/>
            <a:ext cx="2944368" cy="292608"/>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This report, deck, and figure script</a:t>
            </a:r>
            <a:endParaRPr lang="en-US" sz="1500" dirty="0"/>
          </a:p>
        </p:txBody>
      </p:sp>
      <p:sp>
        <p:nvSpPr>
          <p:cNvPr id="15" name="Text 13"/>
          <p:cNvSpPr/>
          <p:nvPr/>
        </p:nvSpPr>
        <p:spPr>
          <a:xfrm>
            <a:off x="8394192" y="2084832"/>
            <a:ext cx="2944368" cy="566928"/>
          </a:xfrm>
          <a:prstGeom prst="rect">
            <a:avLst/>
          </a:prstGeom>
          <a:noFill/>
          <a:ln/>
        </p:spPr>
        <p:txBody>
          <a:bodyPr wrap="square" lIns="0" tIns="0" rIns="0" bIns="0" rtlCol="0" anchor="t"/>
          <a:lstStyle/>
          <a:p>
            <a:pPr indent="0" marL="0">
              <a:buNone/>
            </a:pPr>
            <a:r>
              <a:rPr lang="en-US" sz="1250" dirty="0">
                <a:solidFill>
                  <a:srgbClr val="5A6570"/>
                </a:solidFill>
                <a:latin typeface="Calibri" pitchFamily="34" charset="0"/>
                <a:ea typeface="Calibri" pitchFamily="34" charset="-122"/>
                <a:cs typeface="Calibri" pitchFamily="34" charset="-120"/>
              </a:rPr>
              <a:t>Every plotted value is computed live from the engine, so the analysis is reproducible rather than transcribed.</a:t>
            </a:r>
            <a:endParaRPr lang="en-US" sz="1250" dirty="0"/>
          </a:p>
        </p:txBody>
      </p:sp>
      <p:sp>
        <p:nvSpPr>
          <p:cNvPr id="16" name="Shape 14"/>
          <p:cNvSpPr/>
          <p:nvPr/>
        </p:nvSpPr>
        <p:spPr>
          <a:xfrm>
            <a:off x="822960" y="3200400"/>
            <a:ext cx="10515600" cy="1051560"/>
          </a:xfrm>
          <a:prstGeom prst="roundRect">
            <a:avLst>
              <a:gd name="adj" fmla="val 6087"/>
            </a:avLst>
          </a:prstGeom>
          <a:solidFill>
            <a:srgbClr val="F0F7F0"/>
          </a:solidFill>
          <a:ln/>
          <a:effectLst>
            <a:outerShdw sx="100000" sy="100000" kx="0" ky="0" algn="bl" rotWithShape="0" blurRad="88900" dist="25400" dir="5400000">
              <a:srgbClr val="9AA8B2">
                <a:alpha val="22000"/>
              </a:srgbClr>
            </a:outerShdw>
          </a:effectLst>
        </p:spPr>
      </p:sp>
      <p:sp>
        <p:nvSpPr>
          <p:cNvPr id="17" name="Shape 15"/>
          <p:cNvSpPr/>
          <p:nvPr/>
        </p:nvSpPr>
        <p:spPr>
          <a:xfrm>
            <a:off x="1024128" y="3570732"/>
            <a:ext cx="310896" cy="310896"/>
          </a:xfrm>
          <a:prstGeom prst="ellipse">
            <a:avLst/>
          </a:prstGeom>
          <a:solidFill>
            <a:srgbClr val="0A7A0A"/>
          </a:solidFill>
          <a:ln/>
        </p:spPr>
      </p:sp>
      <p:sp>
        <p:nvSpPr>
          <p:cNvPr id="18" name="Text 16"/>
          <p:cNvSpPr/>
          <p:nvPr/>
        </p:nvSpPr>
        <p:spPr>
          <a:xfrm>
            <a:off x="1024128" y="3570732"/>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9" name="Text 17"/>
          <p:cNvSpPr/>
          <p:nvPr/>
        </p:nvSpPr>
        <p:spPr>
          <a:xfrm>
            <a:off x="1463040" y="3310128"/>
            <a:ext cx="9646920" cy="832104"/>
          </a:xfrm>
          <a:prstGeom prst="rect">
            <a:avLst/>
          </a:prstGeom>
          <a:noFill/>
          <a:ln/>
        </p:spPr>
        <p:txBody>
          <a:bodyPr wrap="square" lIns="0" tIns="0" rIns="0" bIns="0" rtlCol="0" anchor="ctr"/>
          <a:lstStyle/>
          <a:p>
            <a:pPr indent="0" marL="0">
              <a:buNone/>
            </a:pPr>
            <a:r>
              <a:rPr lang="en-US" sz="1400" b="1" dirty="0">
                <a:solidFill>
                  <a:srgbClr val="0A7A0A"/>
                </a:solidFill>
                <a:latin typeface="Calibri" pitchFamily="34" charset="0"/>
                <a:ea typeface="Calibri" pitchFamily="34" charset="-122"/>
                <a:cs typeface="Calibri" pitchFamily="34" charset="-120"/>
              </a:rPr>
              <a:t>Acceptance gate for any future attempt:  </a:t>
            </a:r>
            <a:pPr indent="0" marL="0">
              <a:buNone/>
            </a:pPr>
            <a:r>
              <a:rPr lang="en-US" sz="1300" dirty="0">
                <a:solidFill>
                  <a:srgbClr val="1A1A1A"/>
                </a:solidFill>
                <a:latin typeface="Calibri" pitchFamily="34" charset="0"/>
                <a:ea typeface="Calibri" pitchFamily="34" charset="-122"/>
                <a:cs typeface="Calibri" pitchFamily="34" charset="-120"/>
              </a:rPr>
              <a:t>refit Kᵢₓ AND Kₑₓᶜ together from comparable sources, and confirm E_c(3 eV) lands inside 50–70 V BEFORE consulting the Sub-Module 1.6 benchmark at all.</a:t>
            </a:r>
            <a:endParaRPr lang="en-US" sz="1400" dirty="0"/>
          </a:p>
        </p:txBody>
      </p:sp>
      <p:sp>
        <p:nvSpPr>
          <p:cNvPr id="20" name="Text 18"/>
          <p:cNvSpPr/>
          <p:nvPr/>
        </p:nvSpPr>
        <p:spPr>
          <a:xfrm>
            <a:off x="822960" y="4434840"/>
            <a:ext cx="1051560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Also recorded</a:t>
            </a:r>
            <a:endParaRPr lang="en-US" sz="1500" dirty="0"/>
          </a:p>
        </p:txBody>
      </p:sp>
      <p:sp>
        <p:nvSpPr>
          <p:cNvPr id="21" name="Text 19"/>
          <p:cNvSpPr/>
          <p:nvPr/>
        </p:nvSpPr>
        <p:spPr>
          <a:xfrm>
            <a:off x="822960" y="4800600"/>
            <a:ext cx="10515600" cy="13716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Voronov can serve either as a refit target or as a fourth benchmark anchor — never both. The same train/test separation applies.</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Excitation needs its own verified source: Voronov covers ionization only.</a:t>
            </a:r>
            <a:endParaRPr lang="en-US" sz="1300" dirty="0"/>
          </a:p>
          <a:p>
            <a:pPr marL="342900" indent="-342900">
              <a:spcAft>
                <a:spcPts val="900"/>
              </a:spcAft>
              <a:buSzPct val="100000"/>
              <a:buChar char="•"/>
            </a:pPr>
            <a:r>
              <a:rPr lang="en-US" sz="1300" dirty="0">
                <a:solidFill>
                  <a:srgbClr val="1A1A1A"/>
                </a:solidFill>
                <a:latin typeface="Calibri" pitchFamily="34" charset="0"/>
                <a:ea typeface="Calibri" pitchFamily="34" charset="-122"/>
                <a:cs typeface="Calibri" pitchFamily="34" charset="-120"/>
              </a:rPr>
              <a:t>Prefer low-temperature plasma-processing literature over general-purpose astrophysical compilations for the 2–6 eV window.</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1188720"/>
            <a:ext cx="10515600" cy="548640"/>
          </a:xfrm>
          <a:prstGeom prst="rect">
            <a:avLst/>
          </a:prstGeom>
          <a:noFill/>
          <a:ln/>
        </p:spPr>
        <p:txBody>
          <a:bodyPr wrap="square" lIns="0" tIns="0" rIns="0" bIns="0" rtlCol="0" anchor="ctr"/>
          <a:lstStyle/>
          <a:p>
            <a:pPr indent="0" marL="0">
              <a:buNone/>
            </a:pPr>
            <a:r>
              <a:rPr lang="en-US" sz="1500" b="1" spc="160" kern="0" dirty="0">
                <a:solidFill>
                  <a:srgbClr val="7FB3CC"/>
                </a:solidFill>
                <a:latin typeface="Calibri" pitchFamily="34" charset="0"/>
                <a:ea typeface="Calibri" pitchFamily="34" charset="-122"/>
                <a:cs typeface="Calibri" pitchFamily="34" charset="-120"/>
              </a:rPr>
              <a:t>If you are asked in one sentence</a:t>
            </a:r>
            <a:endParaRPr lang="en-US" sz="1500" dirty="0"/>
          </a:p>
        </p:txBody>
      </p:sp>
      <p:sp>
        <p:nvSpPr>
          <p:cNvPr id="3" name="Text 1"/>
          <p:cNvSpPr/>
          <p:nvPr/>
        </p:nvSpPr>
        <p:spPr>
          <a:xfrm>
            <a:off x="822960" y="1874520"/>
            <a:ext cx="10515600" cy="2286000"/>
          </a:xfrm>
          <a:prstGeom prst="rect">
            <a:avLst/>
          </a:prstGeom>
          <a:noFill/>
          <a:ln/>
        </p:spPr>
        <p:txBody>
          <a:bodyPr wrap="square" lIns="0" tIns="0" rIns="0" bIns="0" rtlCol="0" anchor="t"/>
          <a:lstStyle/>
          <a:p>
            <a:pPr indent="0" marL="0">
              <a:lnSpc>
                <a:spcPts val="3400"/>
              </a:lnSpc>
              <a:buNone/>
            </a:pPr>
            <a:r>
              <a:rPr lang="en-US" sz="2400" dirty="0">
                <a:solidFill>
                  <a:srgbClr val="FFFFFF"/>
                </a:solidFill>
                <a:latin typeface="Cambria" pitchFamily="34" charset="0"/>
                <a:ea typeface="Cambria" pitchFamily="34" charset="-122"/>
                <a:cs typeface="Cambria" pitchFamily="34" charset="-120"/>
              </a:rPr>
              <a:t>“We attempted a properly-sourced refit of the ionization rate coefficient using a pre-registered method. It degraded validation because the rate coefficients are ratio-coupled through the energy-loss term — so we documented the constraint and reverted, rather than ship an internally inconsistent engine.”</a:t>
            </a:r>
            <a:endParaRPr lang="en-US" sz="2400" dirty="0"/>
          </a:p>
        </p:txBody>
      </p:sp>
      <p:sp>
        <p:nvSpPr>
          <p:cNvPr id="4" name="Shape 2"/>
          <p:cNvSpPr/>
          <p:nvPr/>
        </p:nvSpPr>
        <p:spPr>
          <a:xfrm>
            <a:off x="822960" y="4480560"/>
            <a:ext cx="3291840" cy="1280160"/>
          </a:xfrm>
          <a:prstGeom prst="roundRect">
            <a:avLst>
              <a:gd name="adj" fmla="val 5714"/>
            </a:avLst>
          </a:prstGeom>
          <a:solidFill>
            <a:srgbClr val="2E3A72"/>
          </a:solidFill>
          <a:ln/>
          <a:effectLst>
            <a:outerShdw sx="100000" sy="100000" kx="0" ky="0" algn="bl" rotWithShape="0" blurRad="101600" dist="25400" dir="5400000">
              <a:srgbClr val="9AA8B2">
                <a:alpha val="28000"/>
              </a:srgbClr>
            </a:outerShdw>
          </a:effectLst>
        </p:spPr>
      </p:sp>
      <p:sp>
        <p:nvSpPr>
          <p:cNvPr id="5" name="Text 3"/>
          <p:cNvSpPr/>
          <p:nvPr/>
        </p:nvSpPr>
        <p:spPr>
          <a:xfrm>
            <a:off x="914400" y="4626864"/>
            <a:ext cx="3108960" cy="665683"/>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6 / 9</a:t>
            </a:r>
            <a:endParaRPr lang="en-US" sz="3200" dirty="0"/>
          </a:p>
        </p:txBody>
      </p:sp>
      <p:sp>
        <p:nvSpPr>
          <p:cNvPr id="6" name="Text 4"/>
          <p:cNvSpPr/>
          <p:nvPr/>
        </p:nvSpPr>
        <p:spPr>
          <a:xfrm>
            <a:off x="950976" y="5274259"/>
            <a:ext cx="3035808" cy="409651"/>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checks passing — honestly reported</a:t>
            </a:r>
            <a:endParaRPr lang="en-US" sz="1150" dirty="0"/>
          </a:p>
        </p:txBody>
      </p:sp>
      <p:sp>
        <p:nvSpPr>
          <p:cNvPr id="7" name="Shape 5"/>
          <p:cNvSpPr/>
          <p:nvPr/>
        </p:nvSpPr>
        <p:spPr>
          <a:xfrm>
            <a:off x="4343400" y="4480560"/>
            <a:ext cx="3291840" cy="1280160"/>
          </a:xfrm>
          <a:prstGeom prst="roundRect">
            <a:avLst>
              <a:gd name="adj" fmla="val 5714"/>
            </a:avLst>
          </a:prstGeom>
          <a:solidFill>
            <a:srgbClr val="25405C"/>
          </a:solidFill>
          <a:ln/>
          <a:effectLst>
            <a:outerShdw sx="100000" sy="100000" kx="0" ky="0" algn="bl" rotWithShape="0" blurRad="101600" dist="25400" dir="5400000">
              <a:srgbClr val="9AA8B2">
                <a:alpha val="28000"/>
              </a:srgbClr>
            </a:outerShdw>
          </a:effectLst>
        </p:spPr>
      </p:sp>
      <p:sp>
        <p:nvSpPr>
          <p:cNvPr id="8" name="Text 6"/>
          <p:cNvSpPr/>
          <p:nvPr/>
        </p:nvSpPr>
        <p:spPr>
          <a:xfrm>
            <a:off x="4434840" y="4626864"/>
            <a:ext cx="3108960" cy="665683"/>
          </a:xfrm>
          <a:prstGeom prst="rect">
            <a:avLst/>
          </a:prstGeom>
          <a:noFill/>
          <a:ln/>
        </p:spPr>
        <p:txBody>
          <a:bodyPr wrap="square" lIns="0" tIns="0" rIns="0" bIns="0" rtlCol="0" anchor="ctr"/>
          <a:lstStyle/>
          <a:p>
            <a:pPr algn="ctr" indent="0" marL="0">
              <a:buNone/>
            </a:pPr>
            <a:r>
              <a:rPr lang="en-US" sz="2600" b="1" dirty="0">
                <a:solidFill>
                  <a:srgbClr val="7BE07B"/>
                </a:solidFill>
                <a:latin typeface="Cambria" pitchFamily="34" charset="0"/>
                <a:ea typeface="Cambria" pitchFamily="34" charset="-122"/>
                <a:cs typeface="Cambria" pitchFamily="34" charset="-120"/>
              </a:rPr>
              <a:t>0 tuned</a:t>
            </a:r>
            <a:endParaRPr lang="en-US" sz="2600" dirty="0"/>
          </a:p>
        </p:txBody>
      </p:sp>
      <p:sp>
        <p:nvSpPr>
          <p:cNvPr id="9" name="Text 7"/>
          <p:cNvSpPr/>
          <p:nvPr/>
        </p:nvSpPr>
        <p:spPr>
          <a:xfrm>
            <a:off x="4471416" y="5274259"/>
            <a:ext cx="3035808" cy="409651"/>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constants changed to pass a test</a:t>
            </a:r>
            <a:endParaRPr lang="en-US" sz="1150" dirty="0"/>
          </a:p>
        </p:txBody>
      </p:sp>
      <p:sp>
        <p:nvSpPr>
          <p:cNvPr id="10" name="Shape 8"/>
          <p:cNvSpPr/>
          <p:nvPr/>
        </p:nvSpPr>
        <p:spPr>
          <a:xfrm>
            <a:off x="7863840" y="4480560"/>
            <a:ext cx="3474720" cy="1280160"/>
          </a:xfrm>
          <a:prstGeom prst="roundRect">
            <a:avLst>
              <a:gd name="adj" fmla="val 5714"/>
            </a:avLst>
          </a:prstGeom>
          <a:solidFill>
            <a:srgbClr val="2E3A72"/>
          </a:solidFill>
          <a:ln/>
          <a:effectLst>
            <a:outerShdw sx="100000" sy="100000" kx="0" ky="0" algn="bl" rotWithShape="0" blurRad="101600" dist="25400" dir="5400000">
              <a:srgbClr val="9AA8B2">
                <a:alpha val="28000"/>
              </a:srgbClr>
            </a:outerShdw>
          </a:effectLst>
        </p:spPr>
      </p:sp>
      <p:sp>
        <p:nvSpPr>
          <p:cNvPr id="11" name="Text 9"/>
          <p:cNvSpPr/>
          <p:nvPr/>
        </p:nvSpPr>
        <p:spPr>
          <a:xfrm>
            <a:off x="7955280" y="4626864"/>
            <a:ext cx="3291840" cy="665683"/>
          </a:xfrm>
          <a:prstGeom prst="rect">
            <a:avLst/>
          </a:prstGeom>
          <a:noFill/>
          <a:ln/>
        </p:spPr>
        <p:txBody>
          <a:bodyPr wrap="square" lIns="0" tIns="0" rIns="0" bIns="0" rtlCol="0" anchor="ctr"/>
          <a:lstStyle/>
          <a:p>
            <a:pPr algn="ctr" indent="0" marL="0">
              <a:buNone/>
            </a:pPr>
            <a:r>
              <a:rPr lang="en-US" sz="2600" b="1" dirty="0">
                <a:solidFill>
                  <a:srgbClr val="7FB3CC"/>
                </a:solidFill>
                <a:latin typeface="Cambria" pitchFamily="34" charset="0"/>
                <a:ea typeface="Cambria" pitchFamily="34" charset="-122"/>
                <a:cs typeface="Cambria" pitchFamily="34" charset="-120"/>
              </a:rPr>
              <a:t>1 constraint</a:t>
            </a:r>
            <a:endParaRPr lang="en-US" sz="2600" dirty="0"/>
          </a:p>
        </p:txBody>
      </p:sp>
      <p:sp>
        <p:nvSpPr>
          <p:cNvPr id="12" name="Text 10"/>
          <p:cNvSpPr/>
          <p:nvPr/>
        </p:nvSpPr>
        <p:spPr>
          <a:xfrm>
            <a:off x="7991856" y="5274259"/>
            <a:ext cx="3218688" cy="409651"/>
          </a:xfrm>
          <a:prstGeom prst="rect">
            <a:avLst/>
          </a:prstGeom>
          <a:noFill/>
          <a:ln/>
        </p:spPr>
        <p:txBody>
          <a:bodyPr wrap="square" lIns="0" tIns="0" rIns="0" bIns="0" rtlCol="0" anchor="t"/>
          <a:lstStyle/>
          <a:p>
            <a:pPr algn="ctr" indent="0" marL="0">
              <a:buNone/>
            </a:pPr>
            <a:r>
              <a:rPr lang="en-US" sz="1150" dirty="0">
                <a:solidFill>
                  <a:srgbClr val="5A6570"/>
                </a:solidFill>
                <a:latin typeface="Calibri" pitchFamily="34" charset="0"/>
                <a:ea typeface="Calibri" pitchFamily="34" charset="-122"/>
                <a:cs typeface="Calibri" pitchFamily="34" charset="-120"/>
              </a:rPr>
              <a:t>documented for future work</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K_iz Refit Attempt - Post-Mortem</dc:title>
  <dc:subject>PptxGenJS Presentation</dc:subject>
  <dc:creator>Plasma Digital Twin FYP</dc:creator>
  <cp:lastModifiedBy>Plasma Digital Twin FYP</cp:lastModifiedBy>
  <cp:revision>1</cp:revision>
  <dcterms:created xsi:type="dcterms:W3CDTF">2026-07-25T12:52:15Z</dcterms:created>
  <dcterms:modified xsi:type="dcterms:W3CDTF">2026-07-25T12:52:15Z</dcterms:modified>
</cp:coreProperties>
</file>